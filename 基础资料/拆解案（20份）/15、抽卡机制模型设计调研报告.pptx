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8" r:id="rId2"/>
    <p:sldId id="276" r:id="rId3"/>
    <p:sldId id="257" r:id="rId4"/>
    <p:sldId id="260" r:id="rId5"/>
    <p:sldId id="259" r:id="rId6"/>
    <p:sldId id="281" r:id="rId7"/>
    <p:sldId id="261" r:id="rId8"/>
    <p:sldId id="284" r:id="rId9"/>
    <p:sldId id="285" r:id="rId10"/>
    <p:sldId id="286" r:id="rId11"/>
    <p:sldId id="288" r:id="rId12"/>
    <p:sldId id="291" r:id="rId13"/>
    <p:sldId id="292" r:id="rId14"/>
    <p:sldId id="269" r:id="rId15"/>
    <p:sldId id="293" r:id="rId16"/>
    <p:sldId id="294" r:id="rId17"/>
    <p:sldId id="282" r:id="rId18"/>
    <p:sldId id="283" r:id="rId19"/>
    <p:sldId id="271" r:id="rId20"/>
    <p:sldId id="295" r:id="rId21"/>
    <p:sldId id="296" r:id="rId22"/>
    <p:sldId id="298" r:id="rId23"/>
    <p:sldId id="277" r:id="rId24"/>
    <p:sldId id="280" r:id="rId25"/>
    <p:sldId id="278" r:id="rId26"/>
    <p:sldId id="279" r:id="rId27"/>
    <p:sldId id="290" r:id="rId28"/>
    <p:sldId id="289" r:id="rId29"/>
    <p:sldId id="297" r:id="rId30"/>
    <p:sldId id="299" r:id="rId31"/>
    <p:sldId id="272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424" autoAdjust="0"/>
  </p:normalViewPr>
  <p:slideViewPr>
    <p:cSldViewPr snapToGrid="0">
      <p:cViewPr varScale="1">
        <p:scale>
          <a:sx n="78" d="100"/>
          <a:sy n="78" d="100"/>
        </p:scale>
        <p:origin x="835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945F45-C1BE-4F81-B706-2A2D3ED1A9A8}" type="datetimeFigureOut">
              <a:rPr lang="zh-CN" altLang="en-US" smtClean="0"/>
              <a:t>2025/9/5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9B80F-891B-4BFD-BC06-1D55F882C3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468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0BF63-651C-49D9-BFDE-897E93C387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839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如果没有卡池更新，单机游戏有剧本抽卡类型（即在庞大的样本种每一次抽出什么已经编写好，本质上已经脱离了抽卡）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9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点击文字部分进行编辑，</a:t>
            </a:r>
            <a:r>
              <a:rPr lang="en-US" altLang="zh-CN" dirty="0"/>
              <a:t>CONTENT</a:t>
            </a:r>
            <a:r>
              <a:rPr lang="zh-CN" altLang="en-US" dirty="0"/>
              <a:t>彩色效果为填充图片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0BF63-651C-49D9-BFDE-897E93C387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06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命运</a:t>
            </a:r>
            <a:r>
              <a:rPr lang="en-US" altLang="zh-CN" dirty="0"/>
              <a:t>-</a:t>
            </a:r>
            <a:r>
              <a:rPr lang="zh-CN" altLang="en-US" dirty="0"/>
              <a:t>官位指定（</a:t>
            </a:r>
            <a:r>
              <a:rPr lang="en-US" altLang="zh-CN" dirty="0"/>
              <a:t>Fate Grand Order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880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同名卡池：后缀</a:t>
            </a:r>
            <a:r>
              <a:rPr lang="en-US" altLang="zh-CN" dirty="0"/>
              <a:t>/</a:t>
            </a:r>
            <a:r>
              <a:rPr lang="zh-CN" altLang="en-US" dirty="0"/>
              <a:t>前缀相同，</a:t>
            </a:r>
            <a:r>
              <a:rPr lang="en-US" altLang="zh-CN" dirty="0"/>
              <a:t>up</a:t>
            </a:r>
            <a:r>
              <a:rPr lang="zh-CN" altLang="en-US" dirty="0"/>
              <a:t>角色不同的同类型卡池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086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不照顾一直欧的人，但是会照顾一直非的人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12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公主连结</a:t>
            </a:r>
            <a:r>
              <a:rPr lang="en-US" altLang="zh-CN" dirty="0" err="1"/>
              <a:t>ReDive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843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照顾了所有玩家，无论欧非，相当于抽的越多送的越多。本质是购买交易而非抽卡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27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同名卡池：后缀</a:t>
            </a:r>
            <a:r>
              <a:rPr lang="en-US" altLang="zh-CN" dirty="0"/>
              <a:t>/</a:t>
            </a:r>
            <a:r>
              <a:rPr lang="zh-CN" altLang="en-US" dirty="0"/>
              <a:t>前缀相同，</a:t>
            </a:r>
            <a:r>
              <a:rPr lang="en-US" altLang="zh-CN" dirty="0"/>
              <a:t>up</a:t>
            </a:r>
            <a:r>
              <a:rPr lang="zh-CN" altLang="en-US" dirty="0"/>
              <a:t>角色不同的同类型卡池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63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不照顾一直欧的人，但是会照顾一直非的人；保底的人吃保底的位置也不同；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164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同名卡池：后缀</a:t>
            </a:r>
            <a:r>
              <a:rPr lang="en-US" altLang="zh-CN" dirty="0"/>
              <a:t>/</a:t>
            </a:r>
            <a:r>
              <a:rPr lang="zh-CN" altLang="en-US" dirty="0"/>
              <a:t>前缀相同，</a:t>
            </a:r>
            <a:r>
              <a:rPr lang="en-US" altLang="zh-CN" dirty="0"/>
              <a:t>up</a:t>
            </a:r>
            <a:r>
              <a:rPr lang="zh-CN" altLang="en-US" dirty="0"/>
              <a:t>角色不同的同类型卡池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59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200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65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925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第七史诗的卡池很多，这里主要讨论普通卡池：圣约召唤、高级卡池：月光召唤。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68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079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置信区间：展现的是这个参数的真实值有一定概率落在测量结果的周围的程度。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备注：置信区间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19B80F-891B-4BFD-BC06-1D55F882C3B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22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401A52F-116F-4ACF-A8D7-2BB3ABAE6A03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32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35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占位符 10"/>
          <p:cNvSpPr>
            <a:spLocks noGrp="1"/>
          </p:cNvSpPr>
          <p:nvPr>
            <p:ph type="body" sz="quarter" idx="10"/>
          </p:nvPr>
        </p:nvSpPr>
        <p:spPr>
          <a:xfrm>
            <a:off x="1020627" y="2780928"/>
            <a:ext cx="10152334" cy="12961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9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85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3C34EA5-ADAB-43D7-BB8E-84AEBB5BFAEC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847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4433FAE-CFBE-48B3-AA3C-B5CA754B9E4C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831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577090B-8897-4596-986F-9CDAD105B1C6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890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9EF7F90-0A24-49F8-AFDE-2A24E30575E5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80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AECEB0A-45D8-476F-A62A-52B2F2C5FF3E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48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359722F-F656-4137-A148-3181E5225743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94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EDD54D8-AAA9-4A56-9A1F-996894408BB6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87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F60551E-F309-4283-9D22-35AAE7D6D6D7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31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FD3CBD1-884C-4619-BBC5-BB300C8DD837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951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B8510C8-428C-4CB1-9C19-95F241CCF00F}" type="slidenum">
              <a:rPr lang="zh-CN" altLang="zh-CN">
                <a:solidFill>
                  <a:prstClr val="black"/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968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8530" y="-203200"/>
            <a:ext cx="1306830" cy="784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580" y="-173355"/>
            <a:ext cx="1190625" cy="71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0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slide" Target="slide24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slide" Target="slide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slide" Target="slide27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slide" Target="slide3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0" y="-1"/>
            <a:ext cx="12189899" cy="6859181"/>
          </a:xfrm>
          <a:prstGeom prst="rect">
            <a:avLst/>
          </a:prstGeom>
        </p:spPr>
      </p:pic>
      <p:sp>
        <p:nvSpPr>
          <p:cNvPr id="2" name="圆角矩形 1"/>
          <p:cNvSpPr/>
          <p:nvPr/>
        </p:nvSpPr>
        <p:spPr>
          <a:xfrm>
            <a:off x="4757564" y="4536963"/>
            <a:ext cx="2333972" cy="338554"/>
          </a:xfrm>
          <a:prstGeom prst="roundRect">
            <a:avLst>
              <a:gd name="adj" fmla="val 307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1028"/>
          <p:cNvSpPr txBox="1"/>
          <p:nvPr/>
        </p:nvSpPr>
        <p:spPr>
          <a:xfrm>
            <a:off x="1249160" y="198854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b="1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抽卡机制模型设计调研</a:t>
            </a:r>
          </a:p>
        </p:txBody>
      </p:sp>
      <p:sp>
        <p:nvSpPr>
          <p:cNvPr id="11" name="TextBox 40"/>
          <p:cNvSpPr txBox="1"/>
          <p:nvPr/>
        </p:nvSpPr>
        <p:spPr>
          <a:xfrm>
            <a:off x="4908887" y="4536963"/>
            <a:ext cx="13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blipFill dpi="0"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sz="1600" b="1" dirty="0">
                <a:blipFill dpi="0"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1" dirty="0">
                <a:blipFill dpi="0"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600" b="1" dirty="0">
                <a:blipFill dpi="0" rotWithShape="1"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1600" dirty="0">
              <a:blipFill dpi="0"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等腰三角形 14"/>
          <p:cNvSpPr/>
          <p:nvPr/>
        </p:nvSpPr>
        <p:spPr>
          <a:xfrm flipV="1">
            <a:off x="5924550" y="6562156"/>
            <a:ext cx="342900" cy="145073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456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3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7" name="图文框 6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00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" name="矩形 4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6" name="矩形 5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17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25304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研究对象</a:t>
            </a:r>
          </a:p>
        </p:txBody>
      </p:sp>
      <p:sp>
        <p:nvSpPr>
          <p:cNvPr id="19" name="矩形 5"/>
          <p:cNvSpPr>
            <a:spLocks noChangeArrowheads="1"/>
          </p:cNvSpPr>
          <p:nvPr/>
        </p:nvSpPr>
        <p:spPr bwMode="auto">
          <a:xfrm>
            <a:off x="642144" y="3206916"/>
            <a:ext cx="6053931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模型研究建立前提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、游戏对象主要为涉及抽奖机制游戏（存在奖池更新）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、为了简化研究难度，抽卡对象仅限于最好的道具（角色）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、游戏卡池如游戏本身说明，没有猫腻。比如：大数据杀熟、付费钻抽卡与免费抽卡概率不相同、仓库检测机制等等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5"/>
          <p:cNvSpPr>
            <a:spLocks noChangeArrowheads="1"/>
          </p:cNvSpPr>
          <p:nvPr/>
        </p:nvSpPr>
        <p:spPr bwMode="auto">
          <a:xfrm>
            <a:off x="642144" y="1452606"/>
            <a:ext cx="585258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模型研究目的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、在不隐瞒玩家卡池信息的前提下优化能提高玩家抽卡体验的模型。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、为公示给玩家的卡池模型建立提供参考。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841" y="1472506"/>
            <a:ext cx="4776952" cy="477695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/>
          <a:srcRect l="2902" t="12598" r="4561" b="15513"/>
          <a:stretch/>
        </p:blipFill>
        <p:spPr>
          <a:xfrm>
            <a:off x="828940" y="5315757"/>
            <a:ext cx="2362200" cy="125306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934634" y="5942290"/>
            <a:ext cx="200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名词诠释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: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见附录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5" action="ppaction://hlinksldjump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235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任意多边形 76"/>
          <p:cNvSpPr/>
          <p:nvPr/>
        </p:nvSpPr>
        <p:spPr>
          <a:xfrm>
            <a:off x="4250052" y="2873216"/>
            <a:ext cx="184626" cy="690182"/>
          </a:xfrm>
          <a:custGeom>
            <a:avLst/>
            <a:gdLst>
              <a:gd name="connsiteX0" fmla="*/ 9525 w 190500"/>
              <a:gd name="connsiteY0" fmla="*/ 19050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19050 h 676275"/>
              <a:gd name="connsiteX0" fmla="*/ 6048 w 190500"/>
              <a:gd name="connsiteY0" fmla="*/ 26003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6048 w 190500"/>
              <a:gd name="connsiteY4" fmla="*/ 26003 h 676275"/>
              <a:gd name="connsiteX0" fmla="*/ 9525 w 190500"/>
              <a:gd name="connsiteY0" fmla="*/ 22527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22527 h 676275"/>
              <a:gd name="connsiteX0" fmla="*/ 2572 w 183547"/>
              <a:gd name="connsiteY0" fmla="*/ 22527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2572 w 183547"/>
              <a:gd name="connsiteY4" fmla="*/ 22527 h 690182"/>
              <a:gd name="connsiteX0" fmla="*/ 6049 w 183547"/>
              <a:gd name="connsiteY0" fmla="*/ 19050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6049 w 183547"/>
              <a:gd name="connsiteY4" fmla="*/ 19050 h 690182"/>
              <a:gd name="connsiteX0" fmla="*/ 174 w 184626"/>
              <a:gd name="connsiteY0" fmla="*/ 8619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8619 h 690182"/>
              <a:gd name="connsiteX0" fmla="*/ 174 w 184626"/>
              <a:gd name="connsiteY0" fmla="*/ 19050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19050 h 69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26" h="690182">
                <a:moveTo>
                  <a:pt x="174" y="19050"/>
                </a:moveTo>
                <a:lnTo>
                  <a:pt x="175101" y="0"/>
                </a:lnTo>
                <a:lnTo>
                  <a:pt x="184626" y="552450"/>
                </a:lnTo>
                <a:lnTo>
                  <a:pt x="1079" y="690182"/>
                </a:lnTo>
                <a:cubicBezTo>
                  <a:pt x="1936" y="467630"/>
                  <a:pt x="-683" y="241602"/>
                  <a:pt x="174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F4C134">
                  <a:shade val="30000"/>
                  <a:satMod val="115000"/>
                </a:srgbClr>
              </a:gs>
              <a:gs pos="50000">
                <a:srgbClr val="F4C134">
                  <a:shade val="67500"/>
                  <a:satMod val="115000"/>
                </a:srgbClr>
              </a:gs>
              <a:gs pos="100000">
                <a:srgbClr val="F4C134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51" name="Group 55"/>
          <p:cNvGrpSpPr>
            <a:grpSpLocks noChangeAspect="1"/>
          </p:cNvGrpSpPr>
          <p:nvPr/>
        </p:nvGrpSpPr>
        <p:grpSpPr bwMode="auto">
          <a:xfrm rot="5400000">
            <a:off x="-1749002" y="1749002"/>
            <a:ext cx="7359350" cy="3861345"/>
            <a:chOff x="5" y="1"/>
            <a:chExt cx="6337" cy="3568"/>
          </a:xfrm>
        </p:grpSpPr>
        <p:sp>
          <p:nvSpPr>
            <p:cNvPr id="1053" name="Freeform 57"/>
            <p:cNvSpPr>
              <a:spLocks/>
            </p:cNvSpPr>
            <p:nvPr/>
          </p:nvSpPr>
          <p:spPr bwMode="auto">
            <a:xfrm>
              <a:off x="10" y="2460"/>
              <a:ext cx="776" cy="1099"/>
            </a:xfrm>
            <a:custGeom>
              <a:avLst/>
              <a:gdLst>
                <a:gd name="T0" fmla="*/ 0 w 776"/>
                <a:gd name="T1" fmla="*/ 0 h 1099"/>
                <a:gd name="T2" fmla="*/ 0 w 776"/>
                <a:gd name="T3" fmla="*/ 767 h 1099"/>
                <a:gd name="T4" fmla="*/ 776 w 776"/>
                <a:gd name="T5" fmla="*/ 1099 h 1099"/>
                <a:gd name="T6" fmla="*/ 0 w 776"/>
                <a:gd name="T7" fmla="*/ 0 h 1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6" h="1099">
                  <a:moveTo>
                    <a:pt x="0" y="0"/>
                  </a:moveTo>
                  <a:lnTo>
                    <a:pt x="0" y="767"/>
                  </a:lnTo>
                  <a:lnTo>
                    <a:pt x="776" y="1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B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54" name="Freeform 58"/>
            <p:cNvSpPr>
              <a:spLocks/>
            </p:cNvSpPr>
            <p:nvPr/>
          </p:nvSpPr>
          <p:spPr bwMode="auto">
            <a:xfrm>
              <a:off x="5" y="3227"/>
              <a:ext cx="781" cy="342"/>
            </a:xfrm>
            <a:custGeom>
              <a:avLst/>
              <a:gdLst>
                <a:gd name="T0" fmla="*/ 5 w 781"/>
                <a:gd name="T1" fmla="*/ 0 h 342"/>
                <a:gd name="T2" fmla="*/ 0 w 781"/>
                <a:gd name="T3" fmla="*/ 342 h 342"/>
                <a:gd name="T4" fmla="*/ 781 w 781"/>
                <a:gd name="T5" fmla="*/ 332 h 342"/>
                <a:gd name="T6" fmla="*/ 5 w 781"/>
                <a:gd name="T7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1" h="342">
                  <a:moveTo>
                    <a:pt x="5" y="0"/>
                  </a:moveTo>
                  <a:lnTo>
                    <a:pt x="0" y="342"/>
                  </a:lnTo>
                  <a:lnTo>
                    <a:pt x="781" y="33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FDB0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56" name="Freeform 60"/>
            <p:cNvSpPr>
              <a:spLocks/>
            </p:cNvSpPr>
            <p:nvPr/>
          </p:nvSpPr>
          <p:spPr bwMode="auto">
            <a:xfrm>
              <a:off x="10" y="2045"/>
              <a:ext cx="988" cy="1514"/>
            </a:xfrm>
            <a:custGeom>
              <a:avLst/>
              <a:gdLst>
                <a:gd name="T0" fmla="*/ 0 w 988"/>
                <a:gd name="T1" fmla="*/ 415 h 1514"/>
                <a:gd name="T2" fmla="*/ 776 w 988"/>
                <a:gd name="T3" fmla="*/ 1514 h 1514"/>
                <a:gd name="T4" fmla="*/ 988 w 988"/>
                <a:gd name="T5" fmla="*/ 0 h 1514"/>
                <a:gd name="T6" fmla="*/ 0 w 988"/>
                <a:gd name="T7" fmla="*/ 415 h 1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8" h="1514">
                  <a:moveTo>
                    <a:pt x="0" y="415"/>
                  </a:moveTo>
                  <a:lnTo>
                    <a:pt x="776" y="1514"/>
                  </a:lnTo>
                  <a:lnTo>
                    <a:pt x="988" y="0"/>
                  </a:lnTo>
                  <a:lnTo>
                    <a:pt x="0" y="415"/>
                  </a:lnTo>
                  <a:close/>
                </a:path>
              </a:pathLst>
            </a:custGeom>
            <a:solidFill>
              <a:srgbClr val="F68A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61" name="Freeform 65"/>
            <p:cNvSpPr>
              <a:spLocks/>
            </p:cNvSpPr>
            <p:nvPr/>
          </p:nvSpPr>
          <p:spPr bwMode="auto">
            <a:xfrm>
              <a:off x="786" y="2045"/>
              <a:ext cx="1137" cy="1514"/>
            </a:xfrm>
            <a:custGeom>
              <a:avLst/>
              <a:gdLst>
                <a:gd name="T0" fmla="*/ 212 w 1137"/>
                <a:gd name="T1" fmla="*/ 0 h 1514"/>
                <a:gd name="T2" fmla="*/ 0 w 1137"/>
                <a:gd name="T3" fmla="*/ 1514 h 1514"/>
                <a:gd name="T4" fmla="*/ 1137 w 1137"/>
                <a:gd name="T5" fmla="*/ 989 h 1514"/>
                <a:gd name="T6" fmla="*/ 212 w 1137"/>
                <a:gd name="T7" fmla="*/ 0 h 1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7" h="1514">
                  <a:moveTo>
                    <a:pt x="212" y="0"/>
                  </a:moveTo>
                  <a:lnTo>
                    <a:pt x="0" y="1514"/>
                  </a:lnTo>
                  <a:lnTo>
                    <a:pt x="1137" y="98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EE34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62" name="Freeform 66"/>
            <p:cNvSpPr>
              <a:spLocks/>
            </p:cNvSpPr>
            <p:nvPr/>
          </p:nvSpPr>
          <p:spPr bwMode="auto">
            <a:xfrm>
              <a:off x="786" y="3034"/>
              <a:ext cx="1137" cy="525"/>
            </a:xfrm>
            <a:custGeom>
              <a:avLst/>
              <a:gdLst>
                <a:gd name="T0" fmla="*/ 0 w 1137"/>
                <a:gd name="T1" fmla="*/ 525 h 525"/>
                <a:gd name="T2" fmla="*/ 930 w 1137"/>
                <a:gd name="T3" fmla="*/ 525 h 525"/>
                <a:gd name="T4" fmla="*/ 1137 w 1137"/>
                <a:gd name="T5" fmla="*/ 0 h 525"/>
                <a:gd name="T6" fmla="*/ 0 w 1137"/>
                <a:gd name="T7" fmla="*/ 525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7" h="525">
                  <a:moveTo>
                    <a:pt x="0" y="525"/>
                  </a:moveTo>
                  <a:lnTo>
                    <a:pt x="930" y="525"/>
                  </a:lnTo>
                  <a:lnTo>
                    <a:pt x="1137" y="0"/>
                  </a:lnTo>
                  <a:lnTo>
                    <a:pt x="0" y="525"/>
                  </a:lnTo>
                  <a:close/>
                </a:path>
              </a:pathLst>
            </a:custGeom>
            <a:solidFill>
              <a:srgbClr val="ED1B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64" name="Freeform 68"/>
            <p:cNvSpPr>
              <a:spLocks/>
            </p:cNvSpPr>
            <p:nvPr/>
          </p:nvSpPr>
          <p:spPr bwMode="auto">
            <a:xfrm>
              <a:off x="1417" y="1"/>
              <a:ext cx="713" cy="1543"/>
            </a:xfrm>
            <a:custGeom>
              <a:avLst/>
              <a:gdLst>
                <a:gd name="T0" fmla="*/ 713 w 713"/>
                <a:gd name="T1" fmla="*/ 0 h 1543"/>
                <a:gd name="T2" fmla="*/ 0 w 713"/>
                <a:gd name="T3" fmla="*/ 1543 h 1543"/>
                <a:gd name="T4" fmla="*/ 713 w 713"/>
                <a:gd name="T5" fmla="*/ 0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3" h="1543">
                  <a:moveTo>
                    <a:pt x="713" y="0"/>
                  </a:moveTo>
                  <a:lnTo>
                    <a:pt x="0" y="1543"/>
                  </a:lnTo>
                  <a:lnTo>
                    <a:pt x="713" y="0"/>
                  </a:lnTo>
                  <a:close/>
                </a:path>
              </a:pathLst>
            </a:custGeom>
            <a:solidFill>
              <a:srgbClr val="EE21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66" name="Freeform 70"/>
            <p:cNvSpPr>
              <a:spLocks/>
            </p:cNvSpPr>
            <p:nvPr/>
          </p:nvSpPr>
          <p:spPr bwMode="auto">
            <a:xfrm>
              <a:off x="998" y="2045"/>
              <a:ext cx="1224" cy="989"/>
            </a:xfrm>
            <a:custGeom>
              <a:avLst/>
              <a:gdLst>
                <a:gd name="T0" fmla="*/ 0 w 1224"/>
                <a:gd name="T1" fmla="*/ 0 h 989"/>
                <a:gd name="T2" fmla="*/ 925 w 1224"/>
                <a:gd name="T3" fmla="*/ 989 h 989"/>
                <a:gd name="T4" fmla="*/ 1224 w 1224"/>
                <a:gd name="T5" fmla="*/ 49 h 989"/>
                <a:gd name="T6" fmla="*/ 0 w 1224"/>
                <a:gd name="T7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4" h="989">
                  <a:moveTo>
                    <a:pt x="0" y="0"/>
                  </a:moveTo>
                  <a:lnTo>
                    <a:pt x="925" y="989"/>
                  </a:lnTo>
                  <a:lnTo>
                    <a:pt x="1224" y="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18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67" name="Freeform 71"/>
            <p:cNvSpPr>
              <a:spLocks/>
            </p:cNvSpPr>
            <p:nvPr/>
          </p:nvSpPr>
          <p:spPr bwMode="auto">
            <a:xfrm>
              <a:off x="1923" y="2094"/>
              <a:ext cx="752" cy="1451"/>
            </a:xfrm>
            <a:custGeom>
              <a:avLst/>
              <a:gdLst>
                <a:gd name="T0" fmla="*/ 299 w 752"/>
                <a:gd name="T1" fmla="*/ 0 h 1451"/>
                <a:gd name="T2" fmla="*/ 0 w 752"/>
                <a:gd name="T3" fmla="*/ 940 h 1451"/>
                <a:gd name="T4" fmla="*/ 752 w 752"/>
                <a:gd name="T5" fmla="*/ 1451 h 1451"/>
                <a:gd name="T6" fmla="*/ 299 w 752"/>
                <a:gd name="T7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2" h="1451">
                  <a:moveTo>
                    <a:pt x="299" y="0"/>
                  </a:moveTo>
                  <a:lnTo>
                    <a:pt x="0" y="940"/>
                  </a:lnTo>
                  <a:lnTo>
                    <a:pt x="752" y="145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E126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68" name="Freeform 72"/>
            <p:cNvSpPr>
              <a:spLocks/>
            </p:cNvSpPr>
            <p:nvPr/>
          </p:nvSpPr>
          <p:spPr bwMode="auto">
            <a:xfrm>
              <a:off x="1716" y="3034"/>
              <a:ext cx="959" cy="525"/>
            </a:xfrm>
            <a:custGeom>
              <a:avLst/>
              <a:gdLst>
                <a:gd name="T0" fmla="*/ 207 w 959"/>
                <a:gd name="T1" fmla="*/ 0 h 525"/>
                <a:gd name="T2" fmla="*/ 0 w 959"/>
                <a:gd name="T3" fmla="*/ 525 h 525"/>
                <a:gd name="T4" fmla="*/ 959 w 959"/>
                <a:gd name="T5" fmla="*/ 511 h 525"/>
                <a:gd name="T6" fmla="*/ 207 w 959"/>
                <a:gd name="T7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9" h="525">
                  <a:moveTo>
                    <a:pt x="207" y="0"/>
                  </a:moveTo>
                  <a:lnTo>
                    <a:pt x="0" y="525"/>
                  </a:lnTo>
                  <a:lnTo>
                    <a:pt x="959" y="51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EC2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71" name="Freeform 75"/>
            <p:cNvSpPr>
              <a:spLocks/>
            </p:cNvSpPr>
            <p:nvPr/>
          </p:nvSpPr>
          <p:spPr bwMode="auto">
            <a:xfrm>
              <a:off x="2130" y="1"/>
              <a:ext cx="675" cy="873"/>
            </a:xfrm>
            <a:custGeom>
              <a:avLst/>
              <a:gdLst>
                <a:gd name="T0" fmla="*/ 0 w 675"/>
                <a:gd name="T1" fmla="*/ 0 h 873"/>
                <a:gd name="T2" fmla="*/ 0 w 675"/>
                <a:gd name="T3" fmla="*/ 0 h 873"/>
                <a:gd name="T4" fmla="*/ 675 w 675"/>
                <a:gd name="T5" fmla="*/ 873 h 873"/>
                <a:gd name="T6" fmla="*/ 0 w 675"/>
                <a:gd name="T7" fmla="*/ 0 h 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5" h="873">
                  <a:moveTo>
                    <a:pt x="0" y="0"/>
                  </a:moveTo>
                  <a:lnTo>
                    <a:pt x="0" y="0"/>
                  </a:lnTo>
                  <a:lnTo>
                    <a:pt x="675" y="8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6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75" name="Freeform 79"/>
            <p:cNvSpPr>
              <a:spLocks/>
            </p:cNvSpPr>
            <p:nvPr/>
          </p:nvSpPr>
          <p:spPr bwMode="auto">
            <a:xfrm>
              <a:off x="2222" y="2094"/>
              <a:ext cx="1393" cy="1451"/>
            </a:xfrm>
            <a:custGeom>
              <a:avLst/>
              <a:gdLst>
                <a:gd name="T0" fmla="*/ 0 w 1393"/>
                <a:gd name="T1" fmla="*/ 0 h 1451"/>
                <a:gd name="T2" fmla="*/ 453 w 1393"/>
                <a:gd name="T3" fmla="*/ 1451 h 1451"/>
                <a:gd name="T4" fmla="*/ 1393 w 1393"/>
                <a:gd name="T5" fmla="*/ 530 h 1451"/>
                <a:gd name="T6" fmla="*/ 0 w 1393"/>
                <a:gd name="T7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3" h="1451">
                  <a:moveTo>
                    <a:pt x="0" y="0"/>
                  </a:moveTo>
                  <a:lnTo>
                    <a:pt x="453" y="1451"/>
                  </a:lnTo>
                  <a:lnTo>
                    <a:pt x="1393" y="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77" name="Freeform 81"/>
            <p:cNvSpPr>
              <a:spLocks/>
            </p:cNvSpPr>
            <p:nvPr/>
          </p:nvSpPr>
          <p:spPr bwMode="auto">
            <a:xfrm>
              <a:off x="2222" y="1534"/>
              <a:ext cx="1706" cy="1090"/>
            </a:xfrm>
            <a:custGeom>
              <a:avLst/>
              <a:gdLst>
                <a:gd name="T0" fmla="*/ 0 w 1706"/>
                <a:gd name="T1" fmla="*/ 560 h 1090"/>
                <a:gd name="T2" fmla="*/ 1393 w 1706"/>
                <a:gd name="T3" fmla="*/ 1090 h 1090"/>
                <a:gd name="T4" fmla="*/ 1706 w 1706"/>
                <a:gd name="T5" fmla="*/ 0 h 1090"/>
                <a:gd name="T6" fmla="*/ 0 w 1706"/>
                <a:gd name="T7" fmla="*/ 56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06" h="1090">
                  <a:moveTo>
                    <a:pt x="0" y="560"/>
                  </a:moveTo>
                  <a:lnTo>
                    <a:pt x="1393" y="1090"/>
                  </a:lnTo>
                  <a:lnTo>
                    <a:pt x="1706" y="0"/>
                  </a:lnTo>
                  <a:lnTo>
                    <a:pt x="0" y="560"/>
                  </a:lnTo>
                  <a:close/>
                </a:path>
              </a:pathLst>
            </a:custGeom>
            <a:solidFill>
              <a:srgbClr val="886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78" name="Freeform 82"/>
            <p:cNvSpPr>
              <a:spLocks/>
            </p:cNvSpPr>
            <p:nvPr/>
          </p:nvSpPr>
          <p:spPr bwMode="auto">
            <a:xfrm>
              <a:off x="2675" y="2624"/>
              <a:ext cx="1258" cy="931"/>
            </a:xfrm>
            <a:custGeom>
              <a:avLst/>
              <a:gdLst>
                <a:gd name="T0" fmla="*/ 940 w 1258"/>
                <a:gd name="T1" fmla="*/ 0 h 931"/>
                <a:gd name="T2" fmla="*/ 0 w 1258"/>
                <a:gd name="T3" fmla="*/ 921 h 931"/>
                <a:gd name="T4" fmla="*/ 1258 w 1258"/>
                <a:gd name="T5" fmla="*/ 931 h 931"/>
                <a:gd name="T6" fmla="*/ 940 w 1258"/>
                <a:gd name="T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8" h="931">
                  <a:moveTo>
                    <a:pt x="940" y="0"/>
                  </a:moveTo>
                  <a:lnTo>
                    <a:pt x="0" y="921"/>
                  </a:lnTo>
                  <a:lnTo>
                    <a:pt x="1258" y="931"/>
                  </a:lnTo>
                  <a:lnTo>
                    <a:pt x="940" y="0"/>
                  </a:lnTo>
                  <a:close/>
                </a:path>
              </a:pathLst>
            </a:custGeom>
            <a:solidFill>
              <a:srgbClr val="8269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82" name="Freeform 85"/>
            <p:cNvSpPr>
              <a:spLocks/>
            </p:cNvSpPr>
            <p:nvPr/>
          </p:nvSpPr>
          <p:spPr bwMode="auto">
            <a:xfrm>
              <a:off x="3615" y="1534"/>
              <a:ext cx="983" cy="1090"/>
            </a:xfrm>
            <a:custGeom>
              <a:avLst/>
              <a:gdLst>
                <a:gd name="T0" fmla="*/ 313 w 983"/>
                <a:gd name="T1" fmla="*/ 0 h 1090"/>
                <a:gd name="T2" fmla="*/ 0 w 983"/>
                <a:gd name="T3" fmla="*/ 1090 h 1090"/>
                <a:gd name="T4" fmla="*/ 983 w 983"/>
                <a:gd name="T5" fmla="*/ 916 h 1090"/>
                <a:gd name="T6" fmla="*/ 313 w 983"/>
                <a:gd name="T7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3" h="1090">
                  <a:moveTo>
                    <a:pt x="313" y="0"/>
                  </a:moveTo>
                  <a:lnTo>
                    <a:pt x="0" y="1090"/>
                  </a:lnTo>
                  <a:lnTo>
                    <a:pt x="983" y="916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4E6F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83" name="Freeform 86"/>
            <p:cNvSpPr>
              <a:spLocks/>
            </p:cNvSpPr>
            <p:nvPr/>
          </p:nvSpPr>
          <p:spPr bwMode="auto">
            <a:xfrm>
              <a:off x="3615" y="2450"/>
              <a:ext cx="983" cy="1105"/>
            </a:xfrm>
            <a:custGeom>
              <a:avLst/>
              <a:gdLst>
                <a:gd name="T0" fmla="*/ 0 w 983"/>
                <a:gd name="T1" fmla="*/ 174 h 1105"/>
                <a:gd name="T2" fmla="*/ 318 w 983"/>
                <a:gd name="T3" fmla="*/ 1105 h 1105"/>
                <a:gd name="T4" fmla="*/ 983 w 983"/>
                <a:gd name="T5" fmla="*/ 0 h 1105"/>
                <a:gd name="T6" fmla="*/ 0 w 983"/>
                <a:gd name="T7" fmla="*/ 174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3" h="1105">
                  <a:moveTo>
                    <a:pt x="0" y="174"/>
                  </a:moveTo>
                  <a:lnTo>
                    <a:pt x="318" y="1105"/>
                  </a:lnTo>
                  <a:lnTo>
                    <a:pt x="983" y="0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4D70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84" name="Freeform 87"/>
            <p:cNvSpPr>
              <a:spLocks/>
            </p:cNvSpPr>
            <p:nvPr/>
          </p:nvSpPr>
          <p:spPr bwMode="auto">
            <a:xfrm>
              <a:off x="3928" y="1534"/>
              <a:ext cx="887" cy="916"/>
            </a:xfrm>
            <a:custGeom>
              <a:avLst/>
              <a:gdLst>
                <a:gd name="T0" fmla="*/ 0 w 887"/>
                <a:gd name="T1" fmla="*/ 0 h 916"/>
                <a:gd name="T2" fmla="*/ 670 w 887"/>
                <a:gd name="T3" fmla="*/ 916 h 916"/>
                <a:gd name="T4" fmla="*/ 887 w 887"/>
                <a:gd name="T5" fmla="*/ 401 h 916"/>
                <a:gd name="T6" fmla="*/ 0 w 887"/>
                <a:gd name="T7" fmla="*/ 0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7" h="916">
                  <a:moveTo>
                    <a:pt x="0" y="0"/>
                  </a:moveTo>
                  <a:lnTo>
                    <a:pt x="670" y="916"/>
                  </a:lnTo>
                  <a:lnTo>
                    <a:pt x="887" y="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9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85" name="Freeform 88"/>
            <p:cNvSpPr>
              <a:spLocks/>
            </p:cNvSpPr>
            <p:nvPr/>
          </p:nvSpPr>
          <p:spPr bwMode="auto">
            <a:xfrm>
              <a:off x="3933" y="2450"/>
              <a:ext cx="1089" cy="1105"/>
            </a:xfrm>
            <a:custGeom>
              <a:avLst/>
              <a:gdLst>
                <a:gd name="T0" fmla="*/ 665 w 1089"/>
                <a:gd name="T1" fmla="*/ 0 h 1105"/>
                <a:gd name="T2" fmla="*/ 0 w 1089"/>
                <a:gd name="T3" fmla="*/ 1105 h 1105"/>
                <a:gd name="T4" fmla="*/ 1089 w 1089"/>
                <a:gd name="T5" fmla="*/ 1105 h 1105"/>
                <a:gd name="T6" fmla="*/ 665 w 1089"/>
                <a:gd name="T7" fmla="*/ 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9" h="1105">
                  <a:moveTo>
                    <a:pt x="665" y="0"/>
                  </a:moveTo>
                  <a:lnTo>
                    <a:pt x="0" y="1105"/>
                  </a:lnTo>
                  <a:lnTo>
                    <a:pt x="1089" y="1105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0396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89" name="Freeform 92"/>
            <p:cNvSpPr>
              <a:spLocks/>
            </p:cNvSpPr>
            <p:nvPr/>
          </p:nvSpPr>
          <p:spPr bwMode="auto">
            <a:xfrm>
              <a:off x="4598" y="1935"/>
              <a:ext cx="751" cy="520"/>
            </a:xfrm>
            <a:custGeom>
              <a:avLst/>
              <a:gdLst>
                <a:gd name="T0" fmla="*/ 217 w 751"/>
                <a:gd name="T1" fmla="*/ 0 h 520"/>
                <a:gd name="T2" fmla="*/ 0 w 751"/>
                <a:gd name="T3" fmla="*/ 515 h 520"/>
                <a:gd name="T4" fmla="*/ 751 w 751"/>
                <a:gd name="T5" fmla="*/ 520 h 520"/>
                <a:gd name="T6" fmla="*/ 217 w 751"/>
                <a:gd name="T7" fmla="*/ 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1" h="520">
                  <a:moveTo>
                    <a:pt x="217" y="0"/>
                  </a:moveTo>
                  <a:lnTo>
                    <a:pt x="0" y="515"/>
                  </a:lnTo>
                  <a:lnTo>
                    <a:pt x="751" y="52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19B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90" name="Freeform 93"/>
            <p:cNvSpPr>
              <a:spLocks/>
            </p:cNvSpPr>
            <p:nvPr/>
          </p:nvSpPr>
          <p:spPr bwMode="auto">
            <a:xfrm>
              <a:off x="4598" y="2450"/>
              <a:ext cx="751" cy="1105"/>
            </a:xfrm>
            <a:custGeom>
              <a:avLst/>
              <a:gdLst>
                <a:gd name="T0" fmla="*/ 0 w 751"/>
                <a:gd name="T1" fmla="*/ 0 h 1105"/>
                <a:gd name="T2" fmla="*/ 424 w 751"/>
                <a:gd name="T3" fmla="*/ 1105 h 1105"/>
                <a:gd name="T4" fmla="*/ 751 w 751"/>
                <a:gd name="T5" fmla="*/ 5 h 1105"/>
                <a:gd name="T6" fmla="*/ 0 w 751"/>
                <a:gd name="T7" fmla="*/ 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1" h="1105">
                  <a:moveTo>
                    <a:pt x="0" y="0"/>
                  </a:moveTo>
                  <a:lnTo>
                    <a:pt x="424" y="1105"/>
                  </a:lnTo>
                  <a:lnTo>
                    <a:pt x="751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B4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92" name="Freeform 95"/>
            <p:cNvSpPr>
              <a:spLocks/>
            </p:cNvSpPr>
            <p:nvPr/>
          </p:nvSpPr>
          <p:spPr bwMode="auto">
            <a:xfrm>
              <a:off x="4815" y="1877"/>
              <a:ext cx="1359" cy="578"/>
            </a:xfrm>
            <a:custGeom>
              <a:avLst/>
              <a:gdLst>
                <a:gd name="T0" fmla="*/ 0 w 1359"/>
                <a:gd name="T1" fmla="*/ 58 h 578"/>
                <a:gd name="T2" fmla="*/ 534 w 1359"/>
                <a:gd name="T3" fmla="*/ 578 h 578"/>
                <a:gd name="T4" fmla="*/ 1359 w 1359"/>
                <a:gd name="T5" fmla="*/ 0 h 578"/>
                <a:gd name="T6" fmla="*/ 0 w 1359"/>
                <a:gd name="T7" fmla="*/ 58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9" h="578">
                  <a:moveTo>
                    <a:pt x="0" y="58"/>
                  </a:moveTo>
                  <a:lnTo>
                    <a:pt x="534" y="578"/>
                  </a:lnTo>
                  <a:lnTo>
                    <a:pt x="1359" y="0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4BC9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97" name="Freeform 100"/>
            <p:cNvSpPr>
              <a:spLocks/>
            </p:cNvSpPr>
            <p:nvPr/>
          </p:nvSpPr>
          <p:spPr bwMode="auto">
            <a:xfrm>
              <a:off x="5022" y="2455"/>
              <a:ext cx="1320" cy="1114"/>
            </a:xfrm>
            <a:custGeom>
              <a:avLst/>
              <a:gdLst>
                <a:gd name="T0" fmla="*/ 327 w 1320"/>
                <a:gd name="T1" fmla="*/ 0 h 1114"/>
                <a:gd name="T2" fmla="*/ 0 w 1320"/>
                <a:gd name="T3" fmla="*/ 1100 h 1114"/>
                <a:gd name="T4" fmla="*/ 1320 w 1320"/>
                <a:gd name="T5" fmla="*/ 1114 h 1114"/>
                <a:gd name="T6" fmla="*/ 327 w 1320"/>
                <a:gd name="T7" fmla="*/ 0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0" h="1114">
                  <a:moveTo>
                    <a:pt x="327" y="0"/>
                  </a:moveTo>
                  <a:lnTo>
                    <a:pt x="0" y="1100"/>
                  </a:lnTo>
                  <a:lnTo>
                    <a:pt x="1320" y="1114"/>
                  </a:lnTo>
                  <a:lnTo>
                    <a:pt x="327" y="0"/>
                  </a:lnTo>
                  <a:close/>
                </a:path>
              </a:pathLst>
            </a:custGeom>
            <a:solidFill>
              <a:srgbClr val="52C8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98" name="Freeform 101"/>
            <p:cNvSpPr>
              <a:spLocks/>
            </p:cNvSpPr>
            <p:nvPr/>
          </p:nvSpPr>
          <p:spPr bwMode="auto">
            <a:xfrm>
              <a:off x="5349" y="1877"/>
              <a:ext cx="993" cy="1692"/>
            </a:xfrm>
            <a:custGeom>
              <a:avLst/>
              <a:gdLst>
                <a:gd name="T0" fmla="*/ 825 w 993"/>
                <a:gd name="T1" fmla="*/ 0 h 1692"/>
                <a:gd name="T2" fmla="*/ 0 w 993"/>
                <a:gd name="T3" fmla="*/ 578 h 1692"/>
                <a:gd name="T4" fmla="*/ 993 w 993"/>
                <a:gd name="T5" fmla="*/ 1692 h 1692"/>
                <a:gd name="T6" fmla="*/ 825 w 993"/>
                <a:gd name="T7" fmla="*/ 0 h 1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3" h="1692">
                  <a:moveTo>
                    <a:pt x="825" y="0"/>
                  </a:moveTo>
                  <a:lnTo>
                    <a:pt x="0" y="578"/>
                  </a:lnTo>
                  <a:lnTo>
                    <a:pt x="993" y="1692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5EC6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7" name="Group 55"/>
          <p:cNvGrpSpPr>
            <a:grpSpLocks noChangeAspect="1"/>
          </p:cNvGrpSpPr>
          <p:nvPr/>
        </p:nvGrpSpPr>
        <p:grpSpPr bwMode="auto">
          <a:xfrm rot="5400000">
            <a:off x="-2550499" y="2532328"/>
            <a:ext cx="7359347" cy="2206404"/>
            <a:chOff x="5" y="1534"/>
            <a:chExt cx="6337" cy="2035"/>
          </a:xfrm>
          <a:noFill/>
        </p:grpSpPr>
        <p:sp>
          <p:nvSpPr>
            <p:cNvPr id="109" name="Freeform 57"/>
            <p:cNvSpPr>
              <a:spLocks/>
            </p:cNvSpPr>
            <p:nvPr/>
          </p:nvSpPr>
          <p:spPr bwMode="auto">
            <a:xfrm>
              <a:off x="10" y="2460"/>
              <a:ext cx="776" cy="1099"/>
            </a:xfrm>
            <a:custGeom>
              <a:avLst/>
              <a:gdLst>
                <a:gd name="T0" fmla="*/ 0 w 776"/>
                <a:gd name="T1" fmla="*/ 0 h 1099"/>
                <a:gd name="T2" fmla="*/ 0 w 776"/>
                <a:gd name="T3" fmla="*/ 767 h 1099"/>
                <a:gd name="T4" fmla="*/ 776 w 776"/>
                <a:gd name="T5" fmla="*/ 1099 h 1099"/>
                <a:gd name="T6" fmla="*/ 0 w 776"/>
                <a:gd name="T7" fmla="*/ 0 h 1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6" h="1099">
                  <a:moveTo>
                    <a:pt x="0" y="0"/>
                  </a:moveTo>
                  <a:lnTo>
                    <a:pt x="0" y="767"/>
                  </a:lnTo>
                  <a:lnTo>
                    <a:pt x="776" y="10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0" name="Freeform 58"/>
            <p:cNvSpPr>
              <a:spLocks/>
            </p:cNvSpPr>
            <p:nvPr/>
          </p:nvSpPr>
          <p:spPr bwMode="auto">
            <a:xfrm>
              <a:off x="5" y="3227"/>
              <a:ext cx="781" cy="342"/>
            </a:xfrm>
            <a:custGeom>
              <a:avLst/>
              <a:gdLst>
                <a:gd name="T0" fmla="*/ 5 w 781"/>
                <a:gd name="T1" fmla="*/ 0 h 342"/>
                <a:gd name="T2" fmla="*/ 0 w 781"/>
                <a:gd name="T3" fmla="*/ 342 h 342"/>
                <a:gd name="T4" fmla="*/ 781 w 781"/>
                <a:gd name="T5" fmla="*/ 332 h 342"/>
                <a:gd name="T6" fmla="*/ 5 w 781"/>
                <a:gd name="T7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1" h="342">
                  <a:moveTo>
                    <a:pt x="5" y="0"/>
                  </a:moveTo>
                  <a:lnTo>
                    <a:pt x="0" y="342"/>
                  </a:lnTo>
                  <a:lnTo>
                    <a:pt x="781" y="332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2" name="Freeform 60"/>
            <p:cNvSpPr>
              <a:spLocks/>
            </p:cNvSpPr>
            <p:nvPr/>
          </p:nvSpPr>
          <p:spPr bwMode="auto">
            <a:xfrm>
              <a:off x="10" y="2045"/>
              <a:ext cx="988" cy="1514"/>
            </a:xfrm>
            <a:custGeom>
              <a:avLst/>
              <a:gdLst>
                <a:gd name="T0" fmla="*/ 0 w 988"/>
                <a:gd name="T1" fmla="*/ 415 h 1514"/>
                <a:gd name="T2" fmla="*/ 776 w 988"/>
                <a:gd name="T3" fmla="*/ 1514 h 1514"/>
                <a:gd name="T4" fmla="*/ 988 w 988"/>
                <a:gd name="T5" fmla="*/ 0 h 1514"/>
                <a:gd name="T6" fmla="*/ 0 w 988"/>
                <a:gd name="T7" fmla="*/ 415 h 1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8" h="1514">
                  <a:moveTo>
                    <a:pt x="0" y="415"/>
                  </a:moveTo>
                  <a:lnTo>
                    <a:pt x="776" y="1514"/>
                  </a:lnTo>
                  <a:lnTo>
                    <a:pt x="988" y="0"/>
                  </a:lnTo>
                  <a:lnTo>
                    <a:pt x="0" y="415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7" name="Freeform 65"/>
            <p:cNvSpPr>
              <a:spLocks/>
            </p:cNvSpPr>
            <p:nvPr/>
          </p:nvSpPr>
          <p:spPr bwMode="auto">
            <a:xfrm>
              <a:off x="786" y="2045"/>
              <a:ext cx="1137" cy="1514"/>
            </a:xfrm>
            <a:custGeom>
              <a:avLst/>
              <a:gdLst>
                <a:gd name="T0" fmla="*/ 212 w 1137"/>
                <a:gd name="T1" fmla="*/ 0 h 1514"/>
                <a:gd name="T2" fmla="*/ 0 w 1137"/>
                <a:gd name="T3" fmla="*/ 1514 h 1514"/>
                <a:gd name="T4" fmla="*/ 1137 w 1137"/>
                <a:gd name="T5" fmla="*/ 989 h 1514"/>
                <a:gd name="T6" fmla="*/ 212 w 1137"/>
                <a:gd name="T7" fmla="*/ 0 h 1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7" h="1514">
                  <a:moveTo>
                    <a:pt x="212" y="0"/>
                  </a:moveTo>
                  <a:lnTo>
                    <a:pt x="0" y="1514"/>
                  </a:lnTo>
                  <a:lnTo>
                    <a:pt x="1137" y="989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8" name="Freeform 66"/>
            <p:cNvSpPr>
              <a:spLocks/>
            </p:cNvSpPr>
            <p:nvPr/>
          </p:nvSpPr>
          <p:spPr bwMode="auto">
            <a:xfrm>
              <a:off x="786" y="3034"/>
              <a:ext cx="1137" cy="525"/>
            </a:xfrm>
            <a:custGeom>
              <a:avLst/>
              <a:gdLst>
                <a:gd name="T0" fmla="*/ 0 w 1137"/>
                <a:gd name="T1" fmla="*/ 525 h 525"/>
                <a:gd name="T2" fmla="*/ 930 w 1137"/>
                <a:gd name="T3" fmla="*/ 525 h 525"/>
                <a:gd name="T4" fmla="*/ 1137 w 1137"/>
                <a:gd name="T5" fmla="*/ 0 h 525"/>
                <a:gd name="T6" fmla="*/ 0 w 1137"/>
                <a:gd name="T7" fmla="*/ 525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7" h="525">
                  <a:moveTo>
                    <a:pt x="0" y="525"/>
                  </a:moveTo>
                  <a:lnTo>
                    <a:pt x="930" y="525"/>
                  </a:lnTo>
                  <a:lnTo>
                    <a:pt x="1137" y="0"/>
                  </a:lnTo>
                  <a:lnTo>
                    <a:pt x="0" y="525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2" name="Freeform 70"/>
            <p:cNvSpPr>
              <a:spLocks/>
            </p:cNvSpPr>
            <p:nvPr/>
          </p:nvSpPr>
          <p:spPr bwMode="auto">
            <a:xfrm>
              <a:off x="998" y="2045"/>
              <a:ext cx="1224" cy="989"/>
            </a:xfrm>
            <a:custGeom>
              <a:avLst/>
              <a:gdLst>
                <a:gd name="T0" fmla="*/ 0 w 1224"/>
                <a:gd name="T1" fmla="*/ 0 h 989"/>
                <a:gd name="T2" fmla="*/ 925 w 1224"/>
                <a:gd name="T3" fmla="*/ 989 h 989"/>
                <a:gd name="T4" fmla="*/ 1224 w 1224"/>
                <a:gd name="T5" fmla="*/ 49 h 989"/>
                <a:gd name="T6" fmla="*/ 0 w 1224"/>
                <a:gd name="T7" fmla="*/ 0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24" h="989">
                  <a:moveTo>
                    <a:pt x="0" y="0"/>
                  </a:moveTo>
                  <a:lnTo>
                    <a:pt x="925" y="989"/>
                  </a:lnTo>
                  <a:lnTo>
                    <a:pt x="1224" y="4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3" name="Freeform 71"/>
            <p:cNvSpPr>
              <a:spLocks/>
            </p:cNvSpPr>
            <p:nvPr/>
          </p:nvSpPr>
          <p:spPr bwMode="auto">
            <a:xfrm>
              <a:off x="1923" y="2094"/>
              <a:ext cx="752" cy="1451"/>
            </a:xfrm>
            <a:custGeom>
              <a:avLst/>
              <a:gdLst>
                <a:gd name="T0" fmla="*/ 299 w 752"/>
                <a:gd name="T1" fmla="*/ 0 h 1451"/>
                <a:gd name="T2" fmla="*/ 0 w 752"/>
                <a:gd name="T3" fmla="*/ 940 h 1451"/>
                <a:gd name="T4" fmla="*/ 752 w 752"/>
                <a:gd name="T5" fmla="*/ 1451 h 1451"/>
                <a:gd name="T6" fmla="*/ 299 w 752"/>
                <a:gd name="T7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2" h="1451">
                  <a:moveTo>
                    <a:pt x="299" y="0"/>
                  </a:moveTo>
                  <a:lnTo>
                    <a:pt x="0" y="940"/>
                  </a:lnTo>
                  <a:lnTo>
                    <a:pt x="752" y="1451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4" name="Freeform 72"/>
            <p:cNvSpPr>
              <a:spLocks/>
            </p:cNvSpPr>
            <p:nvPr/>
          </p:nvSpPr>
          <p:spPr bwMode="auto">
            <a:xfrm>
              <a:off x="1716" y="3034"/>
              <a:ext cx="959" cy="525"/>
            </a:xfrm>
            <a:custGeom>
              <a:avLst/>
              <a:gdLst>
                <a:gd name="T0" fmla="*/ 207 w 959"/>
                <a:gd name="T1" fmla="*/ 0 h 525"/>
                <a:gd name="T2" fmla="*/ 0 w 959"/>
                <a:gd name="T3" fmla="*/ 525 h 525"/>
                <a:gd name="T4" fmla="*/ 959 w 959"/>
                <a:gd name="T5" fmla="*/ 511 h 525"/>
                <a:gd name="T6" fmla="*/ 207 w 959"/>
                <a:gd name="T7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9" h="525">
                  <a:moveTo>
                    <a:pt x="207" y="0"/>
                  </a:moveTo>
                  <a:lnTo>
                    <a:pt x="0" y="525"/>
                  </a:lnTo>
                  <a:lnTo>
                    <a:pt x="959" y="511"/>
                  </a:lnTo>
                  <a:lnTo>
                    <a:pt x="207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1" name="Freeform 79"/>
            <p:cNvSpPr>
              <a:spLocks/>
            </p:cNvSpPr>
            <p:nvPr/>
          </p:nvSpPr>
          <p:spPr bwMode="auto">
            <a:xfrm>
              <a:off x="2222" y="2094"/>
              <a:ext cx="1393" cy="1451"/>
            </a:xfrm>
            <a:custGeom>
              <a:avLst/>
              <a:gdLst>
                <a:gd name="T0" fmla="*/ 0 w 1393"/>
                <a:gd name="T1" fmla="*/ 0 h 1451"/>
                <a:gd name="T2" fmla="*/ 453 w 1393"/>
                <a:gd name="T3" fmla="*/ 1451 h 1451"/>
                <a:gd name="T4" fmla="*/ 1393 w 1393"/>
                <a:gd name="T5" fmla="*/ 530 h 1451"/>
                <a:gd name="T6" fmla="*/ 0 w 1393"/>
                <a:gd name="T7" fmla="*/ 0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93" h="1451">
                  <a:moveTo>
                    <a:pt x="0" y="0"/>
                  </a:moveTo>
                  <a:lnTo>
                    <a:pt x="453" y="1451"/>
                  </a:lnTo>
                  <a:lnTo>
                    <a:pt x="1393" y="5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3" name="Freeform 81"/>
            <p:cNvSpPr>
              <a:spLocks/>
            </p:cNvSpPr>
            <p:nvPr/>
          </p:nvSpPr>
          <p:spPr bwMode="auto">
            <a:xfrm>
              <a:off x="2222" y="1534"/>
              <a:ext cx="1706" cy="1090"/>
            </a:xfrm>
            <a:custGeom>
              <a:avLst/>
              <a:gdLst>
                <a:gd name="T0" fmla="*/ 0 w 1706"/>
                <a:gd name="T1" fmla="*/ 560 h 1090"/>
                <a:gd name="T2" fmla="*/ 1393 w 1706"/>
                <a:gd name="T3" fmla="*/ 1090 h 1090"/>
                <a:gd name="T4" fmla="*/ 1706 w 1706"/>
                <a:gd name="T5" fmla="*/ 0 h 1090"/>
                <a:gd name="T6" fmla="*/ 0 w 1706"/>
                <a:gd name="T7" fmla="*/ 56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06" h="1090">
                  <a:moveTo>
                    <a:pt x="0" y="560"/>
                  </a:moveTo>
                  <a:lnTo>
                    <a:pt x="1393" y="1090"/>
                  </a:lnTo>
                  <a:lnTo>
                    <a:pt x="1706" y="0"/>
                  </a:lnTo>
                  <a:lnTo>
                    <a:pt x="0" y="56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4" name="Freeform 82"/>
            <p:cNvSpPr>
              <a:spLocks/>
            </p:cNvSpPr>
            <p:nvPr/>
          </p:nvSpPr>
          <p:spPr bwMode="auto">
            <a:xfrm>
              <a:off x="2675" y="2624"/>
              <a:ext cx="1258" cy="931"/>
            </a:xfrm>
            <a:custGeom>
              <a:avLst/>
              <a:gdLst>
                <a:gd name="T0" fmla="*/ 940 w 1258"/>
                <a:gd name="T1" fmla="*/ 0 h 931"/>
                <a:gd name="T2" fmla="*/ 0 w 1258"/>
                <a:gd name="T3" fmla="*/ 921 h 931"/>
                <a:gd name="T4" fmla="*/ 1258 w 1258"/>
                <a:gd name="T5" fmla="*/ 931 h 931"/>
                <a:gd name="T6" fmla="*/ 940 w 1258"/>
                <a:gd name="T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58" h="931">
                  <a:moveTo>
                    <a:pt x="940" y="0"/>
                  </a:moveTo>
                  <a:lnTo>
                    <a:pt x="0" y="921"/>
                  </a:lnTo>
                  <a:lnTo>
                    <a:pt x="1258" y="931"/>
                  </a:lnTo>
                  <a:lnTo>
                    <a:pt x="940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7" name="Freeform 85"/>
            <p:cNvSpPr>
              <a:spLocks/>
            </p:cNvSpPr>
            <p:nvPr/>
          </p:nvSpPr>
          <p:spPr bwMode="auto">
            <a:xfrm>
              <a:off x="3615" y="1534"/>
              <a:ext cx="983" cy="1090"/>
            </a:xfrm>
            <a:custGeom>
              <a:avLst/>
              <a:gdLst>
                <a:gd name="T0" fmla="*/ 313 w 983"/>
                <a:gd name="T1" fmla="*/ 0 h 1090"/>
                <a:gd name="T2" fmla="*/ 0 w 983"/>
                <a:gd name="T3" fmla="*/ 1090 h 1090"/>
                <a:gd name="T4" fmla="*/ 983 w 983"/>
                <a:gd name="T5" fmla="*/ 916 h 1090"/>
                <a:gd name="T6" fmla="*/ 313 w 983"/>
                <a:gd name="T7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3" h="1090">
                  <a:moveTo>
                    <a:pt x="313" y="0"/>
                  </a:moveTo>
                  <a:lnTo>
                    <a:pt x="0" y="1090"/>
                  </a:lnTo>
                  <a:lnTo>
                    <a:pt x="983" y="916"/>
                  </a:lnTo>
                  <a:lnTo>
                    <a:pt x="313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8" name="Freeform 86"/>
            <p:cNvSpPr>
              <a:spLocks/>
            </p:cNvSpPr>
            <p:nvPr/>
          </p:nvSpPr>
          <p:spPr bwMode="auto">
            <a:xfrm>
              <a:off x="3615" y="2450"/>
              <a:ext cx="983" cy="1105"/>
            </a:xfrm>
            <a:custGeom>
              <a:avLst/>
              <a:gdLst>
                <a:gd name="T0" fmla="*/ 0 w 983"/>
                <a:gd name="T1" fmla="*/ 174 h 1105"/>
                <a:gd name="T2" fmla="*/ 318 w 983"/>
                <a:gd name="T3" fmla="*/ 1105 h 1105"/>
                <a:gd name="T4" fmla="*/ 983 w 983"/>
                <a:gd name="T5" fmla="*/ 0 h 1105"/>
                <a:gd name="T6" fmla="*/ 0 w 983"/>
                <a:gd name="T7" fmla="*/ 174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3" h="1105">
                  <a:moveTo>
                    <a:pt x="0" y="174"/>
                  </a:moveTo>
                  <a:lnTo>
                    <a:pt x="318" y="1105"/>
                  </a:lnTo>
                  <a:lnTo>
                    <a:pt x="983" y="0"/>
                  </a:lnTo>
                  <a:lnTo>
                    <a:pt x="0" y="174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9" name="Freeform 87"/>
            <p:cNvSpPr>
              <a:spLocks/>
            </p:cNvSpPr>
            <p:nvPr/>
          </p:nvSpPr>
          <p:spPr bwMode="auto">
            <a:xfrm>
              <a:off x="3928" y="1534"/>
              <a:ext cx="887" cy="916"/>
            </a:xfrm>
            <a:custGeom>
              <a:avLst/>
              <a:gdLst>
                <a:gd name="T0" fmla="*/ 0 w 887"/>
                <a:gd name="T1" fmla="*/ 0 h 916"/>
                <a:gd name="T2" fmla="*/ 670 w 887"/>
                <a:gd name="T3" fmla="*/ 916 h 916"/>
                <a:gd name="T4" fmla="*/ 887 w 887"/>
                <a:gd name="T5" fmla="*/ 401 h 916"/>
                <a:gd name="T6" fmla="*/ 0 w 887"/>
                <a:gd name="T7" fmla="*/ 0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87" h="916">
                  <a:moveTo>
                    <a:pt x="0" y="0"/>
                  </a:moveTo>
                  <a:lnTo>
                    <a:pt x="670" y="916"/>
                  </a:lnTo>
                  <a:lnTo>
                    <a:pt x="887" y="4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0" name="Freeform 88"/>
            <p:cNvSpPr>
              <a:spLocks/>
            </p:cNvSpPr>
            <p:nvPr/>
          </p:nvSpPr>
          <p:spPr bwMode="auto">
            <a:xfrm>
              <a:off x="3933" y="2450"/>
              <a:ext cx="1089" cy="1105"/>
            </a:xfrm>
            <a:custGeom>
              <a:avLst/>
              <a:gdLst>
                <a:gd name="T0" fmla="*/ 665 w 1089"/>
                <a:gd name="T1" fmla="*/ 0 h 1105"/>
                <a:gd name="T2" fmla="*/ 0 w 1089"/>
                <a:gd name="T3" fmla="*/ 1105 h 1105"/>
                <a:gd name="T4" fmla="*/ 1089 w 1089"/>
                <a:gd name="T5" fmla="*/ 1105 h 1105"/>
                <a:gd name="T6" fmla="*/ 665 w 1089"/>
                <a:gd name="T7" fmla="*/ 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9" h="1105">
                  <a:moveTo>
                    <a:pt x="665" y="0"/>
                  </a:moveTo>
                  <a:lnTo>
                    <a:pt x="0" y="1105"/>
                  </a:lnTo>
                  <a:lnTo>
                    <a:pt x="1089" y="1105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4" name="Freeform 92"/>
            <p:cNvSpPr>
              <a:spLocks/>
            </p:cNvSpPr>
            <p:nvPr/>
          </p:nvSpPr>
          <p:spPr bwMode="auto">
            <a:xfrm>
              <a:off x="4598" y="1935"/>
              <a:ext cx="751" cy="520"/>
            </a:xfrm>
            <a:custGeom>
              <a:avLst/>
              <a:gdLst>
                <a:gd name="T0" fmla="*/ 217 w 751"/>
                <a:gd name="T1" fmla="*/ 0 h 520"/>
                <a:gd name="T2" fmla="*/ 0 w 751"/>
                <a:gd name="T3" fmla="*/ 515 h 520"/>
                <a:gd name="T4" fmla="*/ 751 w 751"/>
                <a:gd name="T5" fmla="*/ 520 h 520"/>
                <a:gd name="T6" fmla="*/ 217 w 751"/>
                <a:gd name="T7" fmla="*/ 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1" h="520">
                  <a:moveTo>
                    <a:pt x="217" y="0"/>
                  </a:moveTo>
                  <a:lnTo>
                    <a:pt x="0" y="515"/>
                  </a:lnTo>
                  <a:lnTo>
                    <a:pt x="751" y="520"/>
                  </a:lnTo>
                  <a:lnTo>
                    <a:pt x="217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5" name="Freeform 93"/>
            <p:cNvSpPr>
              <a:spLocks/>
            </p:cNvSpPr>
            <p:nvPr/>
          </p:nvSpPr>
          <p:spPr bwMode="auto">
            <a:xfrm>
              <a:off x="4598" y="2450"/>
              <a:ext cx="751" cy="1105"/>
            </a:xfrm>
            <a:custGeom>
              <a:avLst/>
              <a:gdLst>
                <a:gd name="T0" fmla="*/ 0 w 751"/>
                <a:gd name="T1" fmla="*/ 0 h 1105"/>
                <a:gd name="T2" fmla="*/ 424 w 751"/>
                <a:gd name="T3" fmla="*/ 1105 h 1105"/>
                <a:gd name="T4" fmla="*/ 751 w 751"/>
                <a:gd name="T5" fmla="*/ 5 h 1105"/>
                <a:gd name="T6" fmla="*/ 0 w 751"/>
                <a:gd name="T7" fmla="*/ 0 h 1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1" h="1105">
                  <a:moveTo>
                    <a:pt x="0" y="0"/>
                  </a:moveTo>
                  <a:lnTo>
                    <a:pt x="424" y="1105"/>
                  </a:lnTo>
                  <a:lnTo>
                    <a:pt x="751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7" name="Freeform 95"/>
            <p:cNvSpPr>
              <a:spLocks/>
            </p:cNvSpPr>
            <p:nvPr/>
          </p:nvSpPr>
          <p:spPr bwMode="auto">
            <a:xfrm>
              <a:off x="4815" y="1877"/>
              <a:ext cx="1359" cy="578"/>
            </a:xfrm>
            <a:custGeom>
              <a:avLst/>
              <a:gdLst>
                <a:gd name="T0" fmla="*/ 0 w 1359"/>
                <a:gd name="T1" fmla="*/ 58 h 578"/>
                <a:gd name="T2" fmla="*/ 534 w 1359"/>
                <a:gd name="T3" fmla="*/ 578 h 578"/>
                <a:gd name="T4" fmla="*/ 1359 w 1359"/>
                <a:gd name="T5" fmla="*/ 0 h 578"/>
                <a:gd name="T6" fmla="*/ 0 w 1359"/>
                <a:gd name="T7" fmla="*/ 58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59" h="578">
                  <a:moveTo>
                    <a:pt x="0" y="58"/>
                  </a:moveTo>
                  <a:lnTo>
                    <a:pt x="534" y="578"/>
                  </a:lnTo>
                  <a:lnTo>
                    <a:pt x="1359" y="0"/>
                  </a:lnTo>
                  <a:lnTo>
                    <a:pt x="0" y="58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2" name="Freeform 100"/>
            <p:cNvSpPr>
              <a:spLocks/>
            </p:cNvSpPr>
            <p:nvPr/>
          </p:nvSpPr>
          <p:spPr bwMode="auto">
            <a:xfrm>
              <a:off x="5022" y="2455"/>
              <a:ext cx="1320" cy="1114"/>
            </a:xfrm>
            <a:custGeom>
              <a:avLst/>
              <a:gdLst>
                <a:gd name="T0" fmla="*/ 327 w 1320"/>
                <a:gd name="T1" fmla="*/ 0 h 1114"/>
                <a:gd name="T2" fmla="*/ 0 w 1320"/>
                <a:gd name="T3" fmla="*/ 1100 h 1114"/>
                <a:gd name="T4" fmla="*/ 1320 w 1320"/>
                <a:gd name="T5" fmla="*/ 1114 h 1114"/>
                <a:gd name="T6" fmla="*/ 327 w 1320"/>
                <a:gd name="T7" fmla="*/ 0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20" h="1114">
                  <a:moveTo>
                    <a:pt x="327" y="0"/>
                  </a:moveTo>
                  <a:lnTo>
                    <a:pt x="0" y="1100"/>
                  </a:lnTo>
                  <a:lnTo>
                    <a:pt x="1320" y="1114"/>
                  </a:lnTo>
                  <a:lnTo>
                    <a:pt x="327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3" name="Freeform 101"/>
            <p:cNvSpPr>
              <a:spLocks/>
            </p:cNvSpPr>
            <p:nvPr/>
          </p:nvSpPr>
          <p:spPr bwMode="auto">
            <a:xfrm>
              <a:off x="5349" y="1877"/>
              <a:ext cx="993" cy="1692"/>
            </a:xfrm>
            <a:custGeom>
              <a:avLst/>
              <a:gdLst>
                <a:gd name="T0" fmla="*/ 825 w 993"/>
                <a:gd name="T1" fmla="*/ 0 h 1692"/>
                <a:gd name="T2" fmla="*/ 0 w 993"/>
                <a:gd name="T3" fmla="*/ 578 h 1692"/>
                <a:gd name="T4" fmla="*/ 993 w 993"/>
                <a:gd name="T5" fmla="*/ 1692 h 1692"/>
                <a:gd name="T6" fmla="*/ 825 w 993"/>
                <a:gd name="T7" fmla="*/ 0 h 1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3" h="1692">
                  <a:moveTo>
                    <a:pt x="825" y="0"/>
                  </a:moveTo>
                  <a:lnTo>
                    <a:pt x="0" y="578"/>
                  </a:lnTo>
                  <a:lnTo>
                    <a:pt x="993" y="1692"/>
                  </a:lnTo>
                  <a:lnTo>
                    <a:pt x="825" y="0"/>
                  </a:lnTo>
                  <a:close/>
                </a:path>
              </a:pathLst>
            </a:custGeom>
            <a:grpFill/>
            <a:ln w="1270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099" name="文本框 1098"/>
          <p:cNvSpPr txBox="1"/>
          <p:nvPr/>
        </p:nvSpPr>
        <p:spPr>
          <a:xfrm>
            <a:off x="2344657" y="579502"/>
            <a:ext cx="38202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5400" b="1" spc="-150" dirty="0">
                <a:blipFill dpi="0" rotWithShape="1"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Arial Black" panose="020B0A04020102020204" pitchFamily="34" charset="0"/>
                <a:ea typeface="微软雅黑" panose="020B0503020204020204" pitchFamily="34" charset="-122"/>
              </a:rPr>
              <a:t>CONTENT</a:t>
            </a:r>
            <a:endParaRPr lang="zh-CN" altLang="en-US" sz="5400" b="1" spc="-150" dirty="0">
              <a:blipFill dpi="0"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图文框 64"/>
          <p:cNvSpPr/>
          <p:nvPr/>
        </p:nvSpPr>
        <p:spPr>
          <a:xfrm>
            <a:off x="3546582" y="1836483"/>
            <a:ext cx="670421" cy="677416"/>
          </a:xfrm>
          <a:prstGeom prst="frame">
            <a:avLst>
              <a:gd name="adj1" fmla="val 8305"/>
            </a:avLst>
          </a:prstGeom>
          <a:gradFill>
            <a:gsLst>
              <a:gs pos="0">
                <a:srgbClr val="4CC5F1"/>
              </a:gs>
              <a:gs pos="61000">
                <a:srgbClr val="8B66AA"/>
              </a:gs>
            </a:gsLst>
            <a:lin ang="2700000" scaled="1"/>
          </a:gradFill>
          <a:ln>
            <a:noFill/>
          </a:ln>
          <a:effectLst>
            <a:outerShdw blurRad="2921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00">
              <a:solidFill>
                <a:schemeClr val="tx1"/>
              </a:solidFill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4215924" y="1819276"/>
            <a:ext cx="184626" cy="690182"/>
          </a:xfrm>
          <a:custGeom>
            <a:avLst/>
            <a:gdLst>
              <a:gd name="connsiteX0" fmla="*/ 9525 w 190500"/>
              <a:gd name="connsiteY0" fmla="*/ 19050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19050 h 676275"/>
              <a:gd name="connsiteX0" fmla="*/ 6048 w 190500"/>
              <a:gd name="connsiteY0" fmla="*/ 26003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6048 w 190500"/>
              <a:gd name="connsiteY4" fmla="*/ 26003 h 676275"/>
              <a:gd name="connsiteX0" fmla="*/ 9525 w 190500"/>
              <a:gd name="connsiteY0" fmla="*/ 22527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22527 h 676275"/>
              <a:gd name="connsiteX0" fmla="*/ 2572 w 183547"/>
              <a:gd name="connsiteY0" fmla="*/ 22527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2572 w 183547"/>
              <a:gd name="connsiteY4" fmla="*/ 22527 h 690182"/>
              <a:gd name="connsiteX0" fmla="*/ 6049 w 183547"/>
              <a:gd name="connsiteY0" fmla="*/ 19050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6049 w 183547"/>
              <a:gd name="connsiteY4" fmla="*/ 19050 h 690182"/>
              <a:gd name="connsiteX0" fmla="*/ 174 w 184626"/>
              <a:gd name="connsiteY0" fmla="*/ 8619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8619 h 690182"/>
              <a:gd name="connsiteX0" fmla="*/ 174 w 184626"/>
              <a:gd name="connsiteY0" fmla="*/ 19050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19050 h 69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26" h="690182">
                <a:moveTo>
                  <a:pt x="174" y="19050"/>
                </a:moveTo>
                <a:lnTo>
                  <a:pt x="175101" y="0"/>
                </a:lnTo>
                <a:lnTo>
                  <a:pt x="184626" y="552450"/>
                </a:lnTo>
                <a:lnTo>
                  <a:pt x="1079" y="690182"/>
                </a:lnTo>
                <a:cubicBezTo>
                  <a:pt x="1936" y="467630"/>
                  <a:pt x="-683" y="241602"/>
                  <a:pt x="174" y="19050"/>
                </a:cubicBezTo>
                <a:close/>
              </a:path>
            </a:pathLst>
          </a:custGeom>
          <a:solidFill>
            <a:srgbClr val="8B66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4210049" y="1821568"/>
            <a:ext cx="184626" cy="690182"/>
          </a:xfrm>
          <a:custGeom>
            <a:avLst/>
            <a:gdLst>
              <a:gd name="connsiteX0" fmla="*/ 9525 w 190500"/>
              <a:gd name="connsiteY0" fmla="*/ 19050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19050 h 676275"/>
              <a:gd name="connsiteX0" fmla="*/ 6048 w 190500"/>
              <a:gd name="connsiteY0" fmla="*/ 26003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6048 w 190500"/>
              <a:gd name="connsiteY4" fmla="*/ 26003 h 676275"/>
              <a:gd name="connsiteX0" fmla="*/ 9525 w 190500"/>
              <a:gd name="connsiteY0" fmla="*/ 22527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22527 h 676275"/>
              <a:gd name="connsiteX0" fmla="*/ 2572 w 183547"/>
              <a:gd name="connsiteY0" fmla="*/ 22527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2572 w 183547"/>
              <a:gd name="connsiteY4" fmla="*/ 22527 h 690182"/>
              <a:gd name="connsiteX0" fmla="*/ 6049 w 183547"/>
              <a:gd name="connsiteY0" fmla="*/ 19050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6049 w 183547"/>
              <a:gd name="connsiteY4" fmla="*/ 19050 h 690182"/>
              <a:gd name="connsiteX0" fmla="*/ 174 w 184626"/>
              <a:gd name="connsiteY0" fmla="*/ 8619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8619 h 690182"/>
              <a:gd name="connsiteX0" fmla="*/ 174 w 184626"/>
              <a:gd name="connsiteY0" fmla="*/ 19050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19050 h 69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26" h="690182">
                <a:moveTo>
                  <a:pt x="174" y="19050"/>
                </a:moveTo>
                <a:lnTo>
                  <a:pt x="175101" y="0"/>
                </a:lnTo>
                <a:lnTo>
                  <a:pt x="184626" y="552450"/>
                </a:lnTo>
                <a:lnTo>
                  <a:pt x="1079" y="690182"/>
                </a:lnTo>
                <a:cubicBezTo>
                  <a:pt x="1936" y="467630"/>
                  <a:pt x="-683" y="241602"/>
                  <a:pt x="174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8B66AA">
                  <a:shade val="30000"/>
                  <a:satMod val="115000"/>
                </a:srgbClr>
              </a:gs>
              <a:gs pos="85000">
                <a:srgbClr val="8B66AA">
                  <a:shade val="67500"/>
                  <a:satMod val="115000"/>
                </a:srgbClr>
              </a:gs>
              <a:gs pos="100000">
                <a:srgbClr val="8B66A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文本框 9"/>
          <p:cNvSpPr txBox="1"/>
          <p:nvPr/>
        </p:nvSpPr>
        <p:spPr>
          <a:xfrm>
            <a:off x="3460149" y="1795772"/>
            <a:ext cx="802393" cy="824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01</a:t>
            </a:r>
            <a:endParaRPr lang="zh-CN" altLang="en-US" sz="48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88145" y="1814614"/>
            <a:ext cx="5122260" cy="567020"/>
          </a:xfrm>
          <a:prstGeom prst="rect">
            <a:avLst/>
          </a:prstGeom>
          <a:solidFill>
            <a:srgbClr val="8B66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000501" y="1874265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古典抽卡模型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直角三角形 5"/>
          <p:cNvSpPr/>
          <p:nvPr/>
        </p:nvSpPr>
        <p:spPr>
          <a:xfrm flipH="1">
            <a:off x="7498725" y="1814614"/>
            <a:ext cx="2011680" cy="567020"/>
          </a:xfrm>
          <a:prstGeom prst="rtTriangle">
            <a:avLst/>
          </a:prstGeom>
          <a:gradFill flip="none" rotWithShape="1">
            <a:gsLst>
              <a:gs pos="0">
                <a:srgbClr val="8B66AA">
                  <a:shade val="30000"/>
                  <a:satMod val="115000"/>
                </a:srgbClr>
              </a:gs>
              <a:gs pos="50000">
                <a:srgbClr val="8B66AA">
                  <a:shade val="67500"/>
                  <a:satMod val="115000"/>
                </a:srgbClr>
              </a:gs>
              <a:gs pos="100000">
                <a:srgbClr val="8B66AA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72"/>
          <p:cNvGrpSpPr/>
          <p:nvPr/>
        </p:nvGrpSpPr>
        <p:grpSpPr>
          <a:xfrm>
            <a:off x="3476312" y="2836225"/>
            <a:ext cx="883047" cy="830997"/>
            <a:chOff x="5672207" y="1254297"/>
            <a:chExt cx="4196429" cy="3949079"/>
          </a:xfrm>
        </p:grpSpPr>
        <p:sp>
          <p:nvSpPr>
            <p:cNvPr id="74" name="图文框 73"/>
            <p:cNvSpPr/>
            <p:nvPr/>
          </p:nvSpPr>
          <p:spPr>
            <a:xfrm flipH="1">
              <a:off x="6173800" y="1507123"/>
              <a:ext cx="3169783" cy="3202859"/>
            </a:xfrm>
            <a:prstGeom prst="frame">
              <a:avLst>
                <a:gd name="adj1" fmla="val 8305"/>
              </a:avLst>
            </a:prstGeom>
            <a:gradFill flip="none" rotWithShape="1">
              <a:gsLst>
                <a:gs pos="0">
                  <a:srgbClr val="4CC5F1"/>
                </a:gs>
                <a:gs pos="61000">
                  <a:srgbClr val="FBC221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190500" dist="1397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">
                <a:solidFill>
                  <a:schemeClr val="tx1"/>
                </a:solidFill>
              </a:endParaRPr>
            </a:p>
          </p:txBody>
        </p:sp>
        <p:sp>
          <p:nvSpPr>
            <p:cNvPr id="75" name="文本框 9"/>
            <p:cNvSpPr txBox="1"/>
            <p:nvPr/>
          </p:nvSpPr>
          <p:spPr>
            <a:xfrm flipH="1">
              <a:off x="5672207" y="1254297"/>
              <a:ext cx="4196429" cy="394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02</a:t>
              </a:r>
              <a:endParaRPr lang="zh-CN" altLang="en-US" sz="4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78" name="矩形 77"/>
          <p:cNvSpPr/>
          <p:nvPr/>
        </p:nvSpPr>
        <p:spPr>
          <a:xfrm>
            <a:off x="4406092" y="2878343"/>
            <a:ext cx="5122260" cy="567020"/>
          </a:xfrm>
          <a:prstGeom prst="rect">
            <a:avLst/>
          </a:prstGeom>
          <a:solidFill>
            <a:srgbClr val="F4C1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直角三角形 78"/>
          <p:cNvSpPr/>
          <p:nvPr/>
        </p:nvSpPr>
        <p:spPr>
          <a:xfrm flipH="1">
            <a:off x="7511130" y="2889427"/>
            <a:ext cx="2011680" cy="555936"/>
          </a:xfrm>
          <a:prstGeom prst="rtTriangle">
            <a:avLst/>
          </a:prstGeom>
          <a:gradFill flip="none" rotWithShape="1">
            <a:gsLst>
              <a:gs pos="0">
                <a:srgbClr val="F4C134">
                  <a:shade val="30000"/>
                  <a:satMod val="115000"/>
                </a:srgbClr>
              </a:gs>
              <a:gs pos="50000">
                <a:srgbClr val="F4C134">
                  <a:shade val="67500"/>
                  <a:satMod val="115000"/>
                </a:srgbClr>
              </a:gs>
              <a:gs pos="100000">
                <a:srgbClr val="F4C134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4408404" y="3883262"/>
            <a:ext cx="5122260" cy="567020"/>
          </a:xfrm>
          <a:prstGeom prst="rect">
            <a:avLst/>
          </a:prstGeom>
          <a:solidFill>
            <a:srgbClr val="E71B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直角三角形 83"/>
          <p:cNvSpPr/>
          <p:nvPr/>
        </p:nvSpPr>
        <p:spPr>
          <a:xfrm flipH="1">
            <a:off x="7531846" y="3889777"/>
            <a:ext cx="2011680" cy="555936"/>
          </a:xfrm>
          <a:prstGeom prst="rtTriangle">
            <a:avLst/>
          </a:prstGeom>
          <a:gradFill flip="none" rotWithShape="1">
            <a:gsLst>
              <a:gs pos="0">
                <a:srgbClr val="E71B66">
                  <a:shade val="30000"/>
                  <a:satMod val="115000"/>
                </a:srgbClr>
              </a:gs>
              <a:gs pos="50000">
                <a:srgbClr val="E71B66">
                  <a:shade val="67500"/>
                  <a:satMod val="115000"/>
                </a:srgbClr>
              </a:gs>
              <a:gs pos="100000">
                <a:srgbClr val="E71B66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任意多边形 100"/>
          <p:cNvSpPr/>
          <p:nvPr/>
        </p:nvSpPr>
        <p:spPr>
          <a:xfrm>
            <a:off x="4233303" y="3890422"/>
            <a:ext cx="184626" cy="690182"/>
          </a:xfrm>
          <a:custGeom>
            <a:avLst/>
            <a:gdLst>
              <a:gd name="connsiteX0" fmla="*/ 9525 w 190500"/>
              <a:gd name="connsiteY0" fmla="*/ 19050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19050 h 676275"/>
              <a:gd name="connsiteX0" fmla="*/ 6048 w 190500"/>
              <a:gd name="connsiteY0" fmla="*/ 26003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6048 w 190500"/>
              <a:gd name="connsiteY4" fmla="*/ 26003 h 676275"/>
              <a:gd name="connsiteX0" fmla="*/ 9525 w 190500"/>
              <a:gd name="connsiteY0" fmla="*/ 22527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22527 h 676275"/>
              <a:gd name="connsiteX0" fmla="*/ 2572 w 183547"/>
              <a:gd name="connsiteY0" fmla="*/ 22527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2572 w 183547"/>
              <a:gd name="connsiteY4" fmla="*/ 22527 h 690182"/>
              <a:gd name="connsiteX0" fmla="*/ 6049 w 183547"/>
              <a:gd name="connsiteY0" fmla="*/ 19050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6049 w 183547"/>
              <a:gd name="connsiteY4" fmla="*/ 19050 h 690182"/>
              <a:gd name="connsiteX0" fmla="*/ 174 w 184626"/>
              <a:gd name="connsiteY0" fmla="*/ 8619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8619 h 690182"/>
              <a:gd name="connsiteX0" fmla="*/ 174 w 184626"/>
              <a:gd name="connsiteY0" fmla="*/ 19050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19050 h 69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26" h="690182">
                <a:moveTo>
                  <a:pt x="174" y="19050"/>
                </a:moveTo>
                <a:lnTo>
                  <a:pt x="175101" y="0"/>
                </a:lnTo>
                <a:lnTo>
                  <a:pt x="184626" y="552450"/>
                </a:lnTo>
                <a:lnTo>
                  <a:pt x="1079" y="690182"/>
                </a:lnTo>
                <a:cubicBezTo>
                  <a:pt x="1936" y="467630"/>
                  <a:pt x="-683" y="241602"/>
                  <a:pt x="174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E71B66">
                  <a:shade val="30000"/>
                  <a:satMod val="115000"/>
                </a:srgbClr>
              </a:gs>
              <a:gs pos="50000">
                <a:srgbClr val="E71B66">
                  <a:shade val="67500"/>
                  <a:satMod val="115000"/>
                </a:srgbClr>
              </a:gs>
              <a:gs pos="100000">
                <a:srgbClr val="E71B66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5" name="组合 94"/>
          <p:cNvGrpSpPr/>
          <p:nvPr/>
        </p:nvGrpSpPr>
        <p:grpSpPr>
          <a:xfrm>
            <a:off x="3479198" y="3828121"/>
            <a:ext cx="852818" cy="795735"/>
            <a:chOff x="6180408" y="1287213"/>
            <a:chExt cx="3834649" cy="3577974"/>
          </a:xfrm>
        </p:grpSpPr>
        <p:sp>
          <p:nvSpPr>
            <p:cNvPr id="99" name="图文框 98"/>
            <p:cNvSpPr/>
            <p:nvPr/>
          </p:nvSpPr>
          <p:spPr>
            <a:xfrm rot="16200000" flipH="1">
              <a:off x="6544195" y="1650101"/>
              <a:ext cx="3027003" cy="3027006"/>
            </a:xfrm>
            <a:prstGeom prst="frame">
              <a:avLst>
                <a:gd name="adj1" fmla="val 8305"/>
              </a:avLst>
            </a:prstGeom>
            <a:gradFill flip="none" rotWithShape="1">
              <a:gsLst>
                <a:gs pos="0">
                  <a:srgbClr val="FBC221"/>
                </a:gs>
                <a:gs pos="61000">
                  <a:srgbClr val="E71B66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000">
                <a:solidFill>
                  <a:schemeClr val="tx1"/>
                </a:solidFill>
              </a:endParaRPr>
            </a:p>
          </p:txBody>
        </p:sp>
        <p:sp>
          <p:nvSpPr>
            <p:cNvPr id="100" name="文本框 9"/>
            <p:cNvSpPr txBox="1"/>
            <p:nvPr/>
          </p:nvSpPr>
          <p:spPr>
            <a:xfrm flipH="1">
              <a:off x="6180408" y="1287213"/>
              <a:ext cx="3834649" cy="357797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  <a:ea typeface="微软雅黑" panose="020B0503020204020204" pitchFamily="34" charset="-122"/>
                </a:rPr>
                <a:t>03</a:t>
              </a:r>
              <a:endParaRPr lang="zh-CN" alt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04" name="矩形 103"/>
          <p:cNvSpPr/>
          <p:nvPr/>
        </p:nvSpPr>
        <p:spPr>
          <a:xfrm>
            <a:off x="4425153" y="4931542"/>
            <a:ext cx="5122260" cy="5670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直角三角形 104"/>
          <p:cNvSpPr/>
          <p:nvPr/>
        </p:nvSpPr>
        <p:spPr>
          <a:xfrm flipH="1">
            <a:off x="7548595" y="4938057"/>
            <a:ext cx="2011680" cy="555936"/>
          </a:xfrm>
          <a:prstGeom prst="rtTriangle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任意多边形 113"/>
          <p:cNvSpPr/>
          <p:nvPr/>
        </p:nvSpPr>
        <p:spPr>
          <a:xfrm>
            <a:off x="4258174" y="4936333"/>
            <a:ext cx="184626" cy="690182"/>
          </a:xfrm>
          <a:custGeom>
            <a:avLst/>
            <a:gdLst>
              <a:gd name="connsiteX0" fmla="*/ 9525 w 190500"/>
              <a:gd name="connsiteY0" fmla="*/ 19050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19050 h 676275"/>
              <a:gd name="connsiteX0" fmla="*/ 6048 w 190500"/>
              <a:gd name="connsiteY0" fmla="*/ 26003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6048 w 190500"/>
              <a:gd name="connsiteY4" fmla="*/ 26003 h 676275"/>
              <a:gd name="connsiteX0" fmla="*/ 9525 w 190500"/>
              <a:gd name="connsiteY0" fmla="*/ 22527 h 676275"/>
              <a:gd name="connsiteX1" fmla="*/ 180975 w 190500"/>
              <a:gd name="connsiteY1" fmla="*/ 0 h 676275"/>
              <a:gd name="connsiteX2" fmla="*/ 190500 w 190500"/>
              <a:gd name="connsiteY2" fmla="*/ 552450 h 676275"/>
              <a:gd name="connsiteX3" fmla="*/ 0 w 190500"/>
              <a:gd name="connsiteY3" fmla="*/ 676275 h 676275"/>
              <a:gd name="connsiteX4" fmla="*/ 9525 w 190500"/>
              <a:gd name="connsiteY4" fmla="*/ 22527 h 676275"/>
              <a:gd name="connsiteX0" fmla="*/ 2572 w 183547"/>
              <a:gd name="connsiteY0" fmla="*/ 22527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2572 w 183547"/>
              <a:gd name="connsiteY4" fmla="*/ 22527 h 690182"/>
              <a:gd name="connsiteX0" fmla="*/ 6049 w 183547"/>
              <a:gd name="connsiteY0" fmla="*/ 19050 h 690182"/>
              <a:gd name="connsiteX1" fmla="*/ 174022 w 183547"/>
              <a:gd name="connsiteY1" fmla="*/ 0 h 690182"/>
              <a:gd name="connsiteX2" fmla="*/ 183547 w 183547"/>
              <a:gd name="connsiteY2" fmla="*/ 552450 h 690182"/>
              <a:gd name="connsiteX3" fmla="*/ 0 w 183547"/>
              <a:gd name="connsiteY3" fmla="*/ 690182 h 690182"/>
              <a:gd name="connsiteX4" fmla="*/ 6049 w 183547"/>
              <a:gd name="connsiteY4" fmla="*/ 19050 h 690182"/>
              <a:gd name="connsiteX0" fmla="*/ 174 w 184626"/>
              <a:gd name="connsiteY0" fmla="*/ 8619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8619 h 690182"/>
              <a:gd name="connsiteX0" fmla="*/ 174 w 184626"/>
              <a:gd name="connsiteY0" fmla="*/ 19050 h 690182"/>
              <a:gd name="connsiteX1" fmla="*/ 175101 w 184626"/>
              <a:gd name="connsiteY1" fmla="*/ 0 h 690182"/>
              <a:gd name="connsiteX2" fmla="*/ 184626 w 184626"/>
              <a:gd name="connsiteY2" fmla="*/ 552450 h 690182"/>
              <a:gd name="connsiteX3" fmla="*/ 1079 w 184626"/>
              <a:gd name="connsiteY3" fmla="*/ 690182 h 690182"/>
              <a:gd name="connsiteX4" fmla="*/ 174 w 184626"/>
              <a:gd name="connsiteY4" fmla="*/ 19050 h 690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626" h="690182">
                <a:moveTo>
                  <a:pt x="174" y="19050"/>
                </a:moveTo>
                <a:lnTo>
                  <a:pt x="175101" y="0"/>
                </a:lnTo>
                <a:lnTo>
                  <a:pt x="184626" y="552450"/>
                </a:lnTo>
                <a:lnTo>
                  <a:pt x="1079" y="690182"/>
                </a:lnTo>
                <a:cubicBezTo>
                  <a:pt x="1936" y="467630"/>
                  <a:pt x="-683" y="241602"/>
                  <a:pt x="174" y="19050"/>
                </a:cubicBezTo>
                <a:close/>
              </a:path>
            </a:pathLst>
          </a:custGeom>
          <a:gradFill flip="none" rotWithShape="1">
            <a:gsLst>
              <a:gs pos="0">
                <a:srgbClr val="65C0AE">
                  <a:shade val="30000"/>
                  <a:satMod val="115000"/>
                </a:srgbClr>
              </a:gs>
              <a:gs pos="50000">
                <a:srgbClr val="65C0AE">
                  <a:shade val="67500"/>
                  <a:satMod val="115000"/>
                </a:srgbClr>
              </a:gs>
              <a:gs pos="100000">
                <a:srgbClr val="65C0AE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8" name="组合 107"/>
          <p:cNvGrpSpPr/>
          <p:nvPr/>
        </p:nvGrpSpPr>
        <p:grpSpPr>
          <a:xfrm>
            <a:off x="3436729" y="4949483"/>
            <a:ext cx="905636" cy="736870"/>
            <a:chOff x="5690018" y="933112"/>
            <a:chExt cx="5181982" cy="4098101"/>
          </a:xfrm>
        </p:grpSpPr>
        <p:sp>
          <p:nvSpPr>
            <p:cNvPr id="111" name="图文框 110"/>
            <p:cNvSpPr/>
            <p:nvPr/>
          </p:nvSpPr>
          <p:spPr>
            <a:xfrm rot="16200000" flipH="1">
              <a:off x="6598187" y="879112"/>
              <a:ext cx="3744000" cy="3852000"/>
            </a:xfrm>
            <a:prstGeom prst="frame">
              <a:avLst>
                <a:gd name="adj1" fmla="val 8305"/>
              </a:avLst>
            </a:prstGeom>
            <a:gradFill flip="none" rotWithShape="1">
              <a:gsLst>
                <a:gs pos="0">
                  <a:srgbClr val="65C0AE"/>
                </a:gs>
                <a:gs pos="61000">
                  <a:srgbClr val="BD298A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tx1"/>
                </a:solidFill>
              </a:endParaRPr>
            </a:p>
          </p:txBody>
        </p:sp>
        <p:sp>
          <p:nvSpPr>
            <p:cNvPr id="113" name="文本框 9"/>
            <p:cNvSpPr txBox="1"/>
            <p:nvPr/>
          </p:nvSpPr>
          <p:spPr>
            <a:xfrm flipH="1">
              <a:off x="5690018" y="1287213"/>
              <a:ext cx="5181982" cy="3744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  <a:ea typeface="微软雅黑" panose="020B0503020204020204" pitchFamily="34" charset="-122"/>
                </a:rPr>
                <a:t>04</a:t>
              </a:r>
              <a:endParaRPr lang="zh-CN" alt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76" name="矩形 75"/>
          <p:cNvSpPr/>
          <p:nvPr/>
        </p:nvSpPr>
        <p:spPr>
          <a:xfrm>
            <a:off x="5000501" y="2931020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保底抽卡模型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994414" y="394207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累加抽卡模型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4990049" y="4984219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叠池抽卡模型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84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20763" y="2781300"/>
            <a:ext cx="10152062" cy="1295400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古典抽卡模型</a:t>
            </a:r>
          </a:p>
        </p:txBody>
      </p:sp>
    </p:spTree>
    <p:extLst>
      <p:ext uri="{BB962C8B-B14F-4D97-AF65-F5344CB8AC3E}">
        <p14:creationId xmlns:p14="http://schemas.microsoft.com/office/powerpoint/2010/main" val="405116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7123015" y="1924971"/>
            <a:ext cx="379372" cy="379372"/>
            <a:chOff x="3808417" y="2508606"/>
            <a:chExt cx="379372" cy="379372"/>
          </a:xfrm>
        </p:grpSpPr>
        <p:sp>
          <p:nvSpPr>
            <p:cNvPr id="37" name="椭圆 36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218852" y="5616618"/>
            <a:ext cx="379372" cy="379372"/>
            <a:chOff x="3808417" y="2508606"/>
            <a:chExt cx="379372" cy="379372"/>
          </a:xfrm>
        </p:grpSpPr>
        <p:sp>
          <p:nvSpPr>
            <p:cNvPr id="40" name="椭圆 39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502387" y="5616618"/>
            <a:ext cx="379372" cy="379372"/>
            <a:chOff x="3808417" y="2508606"/>
            <a:chExt cx="379372" cy="379372"/>
          </a:xfrm>
        </p:grpSpPr>
        <p:sp>
          <p:nvSpPr>
            <p:cNvPr id="43" name="椭圆 42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古典抽卡模型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</a:t>
            </a:r>
          </a:p>
        </p:txBody>
      </p:sp>
      <p:grpSp>
        <p:nvGrpSpPr>
          <p:cNvPr id="53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54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58" name="图文框 57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01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55" name="矩形 54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61" name="矩形 5"/>
          <p:cNvSpPr>
            <a:spLocks noChangeArrowheads="1"/>
          </p:cNvSpPr>
          <p:nvPr/>
        </p:nvSpPr>
        <p:spPr bwMode="auto">
          <a:xfrm>
            <a:off x="798666" y="1437548"/>
            <a:ext cx="509731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古典抽卡模型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完全随机抽卡，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抽卡之间为独立事件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。由于没有任和保底机制与附加规则，也是出现最早“抽卡”概念的模型</a:t>
            </a: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798666" y="3716332"/>
            <a:ext cx="5097310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FGO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命运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官位指定（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Fate Grand Order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）卡池中最好的为五星从者，玩家每次抽卡有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概率抽出五星从者。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1052513"/>
            <a:ext cx="1428750" cy="14287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326" y="986770"/>
            <a:ext cx="1428750" cy="1428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326" y="2800618"/>
            <a:ext cx="5110162" cy="243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555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741676"/>
            <a:ext cx="8077200" cy="39860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84" y="5278483"/>
            <a:ext cx="9811168" cy="1117118"/>
          </a:xfrm>
          <a:prstGeom prst="rect">
            <a:avLst/>
          </a:prstGeom>
        </p:spPr>
      </p:pic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3974050" y="6395601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FGO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抽卡拆解</a:t>
            </a:r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5845184" y="4818446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古典抽卡模型</a:t>
            </a:r>
          </a:p>
        </p:txBody>
      </p:sp>
      <p:sp>
        <p:nvSpPr>
          <p:cNvPr id="7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25389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古典抽卡模型</a:t>
            </a:r>
          </a:p>
        </p:txBody>
      </p:sp>
      <p:grpSp>
        <p:nvGrpSpPr>
          <p:cNvPr id="8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9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13" name="图文框 12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01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642144" y="1460502"/>
            <a:ext cx="2812256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古典抽卡模型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完全随机抽卡，其出货概率完全不可控。想要拿到保底出货置信度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情况下下需要抽取约</a:t>
            </a:r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倍数学期望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才能强行获得。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的出货率下，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&gt;50%;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&gt;63%;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299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480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20763" y="2781300"/>
            <a:ext cx="10152062" cy="1295400"/>
          </a:xfrm>
        </p:spPr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保底抽卡模型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9663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7123015" y="1924971"/>
            <a:ext cx="379372" cy="379372"/>
            <a:chOff x="3808417" y="2508606"/>
            <a:chExt cx="379372" cy="379372"/>
          </a:xfrm>
        </p:grpSpPr>
        <p:sp>
          <p:nvSpPr>
            <p:cNvPr id="37" name="椭圆 36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218852" y="5616618"/>
            <a:ext cx="379372" cy="379372"/>
            <a:chOff x="3808417" y="2508606"/>
            <a:chExt cx="379372" cy="379372"/>
          </a:xfrm>
        </p:grpSpPr>
        <p:sp>
          <p:nvSpPr>
            <p:cNvPr id="40" name="椭圆 39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502387" y="5616618"/>
            <a:ext cx="379372" cy="379372"/>
            <a:chOff x="3808417" y="2508606"/>
            <a:chExt cx="379372" cy="379372"/>
          </a:xfrm>
        </p:grpSpPr>
        <p:sp>
          <p:nvSpPr>
            <p:cNvPr id="43" name="椭圆 42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基础保底抽卡模型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</a:t>
            </a:r>
          </a:p>
        </p:txBody>
      </p:sp>
      <p:grpSp>
        <p:nvGrpSpPr>
          <p:cNvPr id="53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54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58" name="图文框 57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02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55" name="矩形 54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61" name="矩形 5"/>
          <p:cNvSpPr>
            <a:spLocks noChangeArrowheads="1"/>
          </p:cNvSpPr>
          <p:nvPr/>
        </p:nvSpPr>
        <p:spPr bwMode="auto">
          <a:xfrm>
            <a:off x="798666" y="1365193"/>
            <a:ext cx="10859934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基础保底抽卡模型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在完全随机抽卡基础“抽卡之间为独立事件”之上额外增加了条件：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抽前不出则第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抽必出的事件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。保证了玩家在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抽之前一定能抽出。但是，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一旦玩家抽出目标物，保底重新计算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。一般保底可以继承至下一个同名卡池。</a:t>
            </a: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798666" y="2913988"/>
            <a:ext cx="10478934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游戏案例：战双帕弥什（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抽保底卡池）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战双帕弥什卡池中最好的为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级构造体，玩家每次抽卡有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概率抽出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级构造体。如果玩家在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抽未抽出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则下一次抽卡必出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。如果玩家在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抽前抽出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则保底计次清零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38" y="4902296"/>
            <a:ext cx="1428644" cy="14286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056" y="4322669"/>
            <a:ext cx="5514843" cy="245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61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6035823" y="5534643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基础保底抽卡模型</a:t>
            </a:r>
          </a:p>
        </p:txBody>
      </p:sp>
      <p:sp>
        <p:nvSpPr>
          <p:cNvPr id="7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32501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基础保底抽卡模型</a:t>
            </a:r>
          </a:p>
        </p:txBody>
      </p:sp>
      <p:grpSp>
        <p:nvGrpSpPr>
          <p:cNvPr id="8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9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13" name="图文框 12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02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317500" y="1592290"/>
            <a:ext cx="3218656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基础保底抽卡模型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相较古典抽卡模型，在随机抽卡之上增加了保底机制。在抽卡次数与出货置信度的图表上增加了，其出货概率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一道墙（红色线条部分）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。想要拿到保底出货置信度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时抽卡次数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保底数。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的出货率，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抽出保底前提下：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&gt;50%;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=100%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（被保底机制照顾的玩家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=37%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7" name="矩形 5"/>
          <p:cNvSpPr>
            <a:spLocks noChangeArrowheads="1"/>
          </p:cNvSpPr>
          <p:nvPr/>
        </p:nvSpPr>
        <p:spPr bwMode="auto">
          <a:xfrm>
            <a:off x="259030" y="6265580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战双帕弥什抽卡拆解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: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见附录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4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156" y="1314392"/>
            <a:ext cx="8584170" cy="422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7123015" y="1924971"/>
            <a:ext cx="379372" cy="379372"/>
            <a:chOff x="3808417" y="2508606"/>
            <a:chExt cx="379372" cy="379372"/>
          </a:xfrm>
        </p:grpSpPr>
        <p:sp>
          <p:nvSpPr>
            <p:cNvPr id="37" name="椭圆 36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218852" y="5616618"/>
            <a:ext cx="379372" cy="379372"/>
            <a:chOff x="3808417" y="2508606"/>
            <a:chExt cx="379372" cy="379372"/>
          </a:xfrm>
        </p:grpSpPr>
        <p:sp>
          <p:nvSpPr>
            <p:cNvPr id="40" name="椭圆 39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502387" y="5616618"/>
            <a:ext cx="379372" cy="379372"/>
            <a:chOff x="3808417" y="2508606"/>
            <a:chExt cx="379372" cy="379372"/>
          </a:xfrm>
        </p:grpSpPr>
        <p:sp>
          <p:nvSpPr>
            <p:cNvPr id="43" name="椭圆 42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额外保底抽卡模型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</a:t>
            </a:r>
          </a:p>
        </p:txBody>
      </p:sp>
      <p:grpSp>
        <p:nvGrpSpPr>
          <p:cNvPr id="53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54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58" name="图文框 57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02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55" name="矩形 54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61" name="矩形 5"/>
          <p:cNvSpPr>
            <a:spLocks noChangeArrowheads="1"/>
          </p:cNvSpPr>
          <p:nvPr/>
        </p:nvSpPr>
        <p:spPr bwMode="auto">
          <a:xfrm>
            <a:off x="798666" y="1437548"/>
            <a:ext cx="509731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额外保底抽卡模型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在完全随机抽卡基础“抽卡之间为独立事件”之上额外增加了条件：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次后可直接获取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。保证了玩家在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抽一定能获取。无论玩家在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抽前是否抽出，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保底不会重新计算（单独累加）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。一般保底不能继承。</a:t>
            </a: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798666" y="3716332"/>
            <a:ext cx="579966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游戏案例：公主连结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公主连结卡池中最好的为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星角色，玩家每次抽卡有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概率抽出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星角色。玩家在一个卡池内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抽后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可以直接兑换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当期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星角色。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抽卡次数不会继承到下一个卡池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606" y="1062458"/>
            <a:ext cx="1434994" cy="14349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606" y="3284588"/>
            <a:ext cx="5259695" cy="295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8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6426866" y="5534643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额外保底抽卡模型</a:t>
            </a:r>
          </a:p>
        </p:txBody>
      </p:sp>
      <p:sp>
        <p:nvSpPr>
          <p:cNvPr id="7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32501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额外保底抽卡模型</a:t>
            </a:r>
          </a:p>
        </p:txBody>
      </p:sp>
      <p:grpSp>
        <p:nvGrpSpPr>
          <p:cNvPr id="8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9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13" name="图文框 12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02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317500" y="1592290"/>
            <a:ext cx="3218656" cy="53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额外保底抽卡模型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相较古典抽卡模型，在随机抽卡之上增加了保底机制。在抽卡次数与出货置信度的图表上不变，其出货概率不变。但是额外根据抽卡数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进行直接的角色获取（红色圆圈部分）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。想要拿到保底出货置信度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时抽卡次数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保底数。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的出货率，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抽出保底前提下：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&gt;50%; 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&gt;63%;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299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抽额外出货置信度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=100%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（被保底机制照顾的玩家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=100%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328" y="1592290"/>
            <a:ext cx="7596690" cy="3722776"/>
          </a:xfrm>
          <a:prstGeom prst="rect">
            <a:avLst/>
          </a:prstGeom>
        </p:spPr>
      </p:pic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3536156" y="6259086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公主连结抽卡拆解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: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见附录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5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116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7123015" y="1924971"/>
            <a:ext cx="379372" cy="379372"/>
            <a:chOff x="3808417" y="2508606"/>
            <a:chExt cx="379372" cy="379372"/>
          </a:xfrm>
        </p:grpSpPr>
        <p:sp>
          <p:nvSpPr>
            <p:cNvPr id="37" name="椭圆 36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218852" y="5616618"/>
            <a:ext cx="379372" cy="379372"/>
            <a:chOff x="3808417" y="2508606"/>
            <a:chExt cx="379372" cy="379372"/>
          </a:xfrm>
        </p:grpSpPr>
        <p:sp>
          <p:nvSpPr>
            <p:cNvPr id="40" name="椭圆 39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502387" y="5616618"/>
            <a:ext cx="379372" cy="379372"/>
            <a:chOff x="3808417" y="2508606"/>
            <a:chExt cx="379372" cy="379372"/>
          </a:xfrm>
        </p:grpSpPr>
        <p:sp>
          <p:nvSpPr>
            <p:cNvPr id="43" name="椭圆 42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浮动保底抽卡模型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</a:t>
            </a:r>
          </a:p>
        </p:txBody>
      </p:sp>
      <p:grpSp>
        <p:nvGrpSpPr>
          <p:cNvPr id="53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54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58" name="图文框 57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02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55" name="矩形 54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61" name="矩形 5"/>
          <p:cNvSpPr>
            <a:spLocks noChangeArrowheads="1"/>
          </p:cNvSpPr>
          <p:nvPr/>
        </p:nvSpPr>
        <p:spPr bwMode="auto">
          <a:xfrm>
            <a:off x="798666" y="1365193"/>
            <a:ext cx="10859934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浮动保底抽卡模型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与基础保底抽卡不同的条件：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x+n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抽前不出则第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x+n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抽必出的事件，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为随机数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。保证了玩家在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抽至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x+n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抽范围之前一定能抽出。但是，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一旦玩家抽出目标物，保底重新计算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。一般保底可以继承至下一个同名卡池。</a:t>
            </a: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798666" y="2913988"/>
            <a:ext cx="10478934" cy="1508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游戏案例：战双帕弥什（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80-100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抽保底卡池）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战双帕弥什卡池中最好的为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级构造体，玩家每次抽卡有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概率抽出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级构造体。如果玩家在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抽至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抽未抽出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则下一次抽卡必出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。如果玩家在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抽至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抽前抽出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则保底计次清零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38" y="4902296"/>
            <a:ext cx="1428644" cy="142864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640" y="4246635"/>
            <a:ext cx="5521634" cy="246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2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6426866" y="5534643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浮动保底抽卡模型</a:t>
            </a:r>
          </a:p>
        </p:txBody>
      </p:sp>
      <p:sp>
        <p:nvSpPr>
          <p:cNvPr id="7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32501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浮动保底抽卡模型</a:t>
            </a:r>
          </a:p>
        </p:txBody>
      </p:sp>
      <p:grpSp>
        <p:nvGrpSpPr>
          <p:cNvPr id="8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9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13" name="图文框 12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02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317500" y="1592290"/>
            <a:ext cx="3218656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浮动保底抽卡模型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相较基础保底抽卡模型，与基础保底抽卡不同的是保底次数是个范围值。在抽卡次数与出货置信度的图表上增加了，其出货概率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一个范围（红色线条围绕部分）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。想要拿到保底出货置信度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时抽卡次数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保底数。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的出货率，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90-110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抽出保底前提下：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&gt;50%;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&gt;81%;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=100%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（被保底机制照顾的玩家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=41%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7" name="矩形 5"/>
          <p:cNvSpPr>
            <a:spLocks noChangeArrowheads="1"/>
          </p:cNvSpPr>
          <p:nvPr/>
        </p:nvSpPr>
        <p:spPr bwMode="auto">
          <a:xfrm>
            <a:off x="3536156" y="6140163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战双帕弥什抽卡拆解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: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见附录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4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156" y="1349338"/>
            <a:ext cx="8558412" cy="418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08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20763" y="2781300"/>
            <a:ext cx="10152062" cy="1295400"/>
          </a:xfrm>
        </p:spPr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累加抽卡模型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7752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7123015" y="1924971"/>
            <a:ext cx="379372" cy="379372"/>
            <a:chOff x="3808417" y="2508606"/>
            <a:chExt cx="379372" cy="379372"/>
          </a:xfrm>
        </p:grpSpPr>
        <p:sp>
          <p:nvSpPr>
            <p:cNvPr id="37" name="椭圆 36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218852" y="5616618"/>
            <a:ext cx="379372" cy="379372"/>
            <a:chOff x="3808417" y="2508606"/>
            <a:chExt cx="379372" cy="379372"/>
          </a:xfrm>
        </p:grpSpPr>
        <p:sp>
          <p:nvSpPr>
            <p:cNvPr id="40" name="椭圆 39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502387" y="5616618"/>
            <a:ext cx="379372" cy="379372"/>
            <a:chOff x="3808417" y="2508606"/>
            <a:chExt cx="379372" cy="379372"/>
          </a:xfrm>
        </p:grpSpPr>
        <p:sp>
          <p:nvSpPr>
            <p:cNvPr id="43" name="椭圆 42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累加概率抽卡模型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</a:t>
            </a:r>
          </a:p>
        </p:txBody>
      </p:sp>
      <p:grpSp>
        <p:nvGrpSpPr>
          <p:cNvPr id="53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54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58" name="图文框 57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02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55" name="矩形 54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61" name="矩形 5"/>
          <p:cNvSpPr>
            <a:spLocks noChangeArrowheads="1"/>
          </p:cNvSpPr>
          <p:nvPr/>
        </p:nvSpPr>
        <p:spPr bwMode="auto">
          <a:xfrm>
            <a:off x="798666" y="1437548"/>
            <a:ext cx="509731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累加概率抽卡模型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在完全随机抽卡基础“抽卡之间为独立事件”之上额外增加了条件：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次后，抽卡概率随着抽取次数增加而增加，直至概率增加至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。但是，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一旦玩家抽出目标物，保底重新计算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。一般保底可以继承至下一个同名卡池。</a:t>
            </a: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798666" y="3716332"/>
            <a:ext cx="5097310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游戏案例：明日方舟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明日方舟卡池中最好的为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6★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干员，玩家每次抽卡有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概率抽出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星角色。如果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次没有获得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6★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干员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下一次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（第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次）获得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6★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干员的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概率将从原本的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提升至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，如果接下来还没有抽中，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会每抽一次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+2%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的概率直至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（第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抽必中）。如果玩家在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6★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干员，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则保底计次重新计算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606" y="1042988"/>
            <a:ext cx="1454464" cy="145446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908" y="3522133"/>
            <a:ext cx="5558037" cy="31263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6314" y="952316"/>
            <a:ext cx="3458327" cy="194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31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6426866" y="5534643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额外保底抽卡模型</a:t>
            </a:r>
          </a:p>
        </p:txBody>
      </p:sp>
      <p:sp>
        <p:nvSpPr>
          <p:cNvPr id="7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32501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累加概率抽卡模型</a:t>
            </a:r>
          </a:p>
        </p:txBody>
      </p:sp>
      <p:grpSp>
        <p:nvGrpSpPr>
          <p:cNvPr id="8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9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13" name="图文框 12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02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317500" y="1214438"/>
            <a:ext cx="3218656" cy="53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累加概率抽卡模型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相较保底抽卡模型，累加概率抽卡模型的保底舍弃了一刀切。在抽卡次数与出货置信度的图表上与古典抽卡模型相比，其出货概率提升。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（红色虚线部分为古典抽卡模型概率）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。想要拿到保底出货置信度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时抽卡次数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保底数。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的出货率，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抽后每抽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次出货概率累加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前提下：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&gt;50%; 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&gt;63%;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126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（被保底机制照顾的玩家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=37%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3536156" y="6167540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明日方舟抽卡拆解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: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见附录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6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156" y="986770"/>
            <a:ext cx="8502223" cy="45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67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20763" y="2781300"/>
            <a:ext cx="10152062" cy="1295400"/>
          </a:xfrm>
        </p:spPr>
        <p:txBody>
          <a:bodyPr/>
          <a:lstStyle/>
          <a:p>
            <a:r>
              <a:rPr lang="zh-CN" altLang="en-US" dirty="0"/>
              <a:t>模型的选择</a:t>
            </a:r>
          </a:p>
        </p:txBody>
      </p:sp>
    </p:spTree>
    <p:extLst>
      <p:ext uri="{BB962C8B-B14F-4D97-AF65-F5344CB8AC3E}">
        <p14:creationId xmlns:p14="http://schemas.microsoft.com/office/powerpoint/2010/main" val="1614907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11"/>
          <p:cNvSpPr txBox="1">
            <a:spLocks noChangeArrowheads="1"/>
          </p:cNvSpPr>
          <p:nvPr/>
        </p:nvSpPr>
        <p:spPr bwMode="auto">
          <a:xfrm>
            <a:off x="642144" y="382121"/>
            <a:ext cx="4460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模型的优劣</a:t>
            </a:r>
          </a:p>
        </p:txBody>
      </p:sp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642144" y="1310911"/>
            <a:ext cx="928290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玩家画像：理性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感性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、纯理性：玩家以纯理性规划的行为为主，即玩家以最差的可能性，考虑了抽卡不出货的可能性与应对对策。（在抽卡资源规划出货置信度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才考虑出手，否则囤资源）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、纯感性：想抽就抽，只要卖的卡符合需求（强度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外观），不考虑手里现有资源剩余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+all in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会不会抽不出的问题。（在抽卡资源规划出货置信度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也要搏一搏）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642143" y="3070698"/>
            <a:ext cx="9678723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卡池的选择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首先需要探究目标用户群体的抽卡习惯，根据用户的抽卡习惯与商业化倾向选择对应的卡池。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纯感性用户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感性用户一般是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R/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的抽卡习惯，喜欢追求刺激消费。保底机制对其会降低刺激程度。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古典抽卡模型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R/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的游戏体验相对更佳。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纯感性用户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纯理性用户一般是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R/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白嫖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的抽卡习惯。喜欢追求稳定消费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白嫖。无保底机制会降低消费欲望。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保底抽卡模型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R/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白嫖玩家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的游戏体验相对更佳 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理性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感性用户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理性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感性用户属于比较复杂的用户群体，也是最常见的玩家群体，处于纯理性与纯感性用户之间，他们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追求抽卡的刺激，也需要保底机制进行兜底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累加抽卡模型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对于这部分特征的玩家游戏体验相对更佳 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9726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20763" y="2781300"/>
            <a:ext cx="10152062" cy="1295400"/>
          </a:xfrm>
        </p:spPr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叠池抽卡模型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2452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7123015" y="1924971"/>
            <a:ext cx="379372" cy="379372"/>
            <a:chOff x="3808417" y="2508606"/>
            <a:chExt cx="379372" cy="379372"/>
          </a:xfrm>
        </p:grpSpPr>
        <p:sp>
          <p:nvSpPr>
            <p:cNvPr id="37" name="椭圆 36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218852" y="5616618"/>
            <a:ext cx="379372" cy="379372"/>
            <a:chOff x="3808417" y="2508606"/>
            <a:chExt cx="379372" cy="379372"/>
          </a:xfrm>
        </p:grpSpPr>
        <p:sp>
          <p:nvSpPr>
            <p:cNvPr id="40" name="椭圆 39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502387" y="5616618"/>
            <a:ext cx="379372" cy="379372"/>
            <a:chOff x="3808417" y="2508606"/>
            <a:chExt cx="379372" cy="379372"/>
          </a:xfrm>
        </p:grpSpPr>
        <p:sp>
          <p:nvSpPr>
            <p:cNvPr id="43" name="椭圆 42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横向并列选择卡池</a:t>
            </a:r>
          </a:p>
        </p:txBody>
      </p:sp>
      <p:grpSp>
        <p:nvGrpSpPr>
          <p:cNvPr id="53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54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58" name="图文框 57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04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55" name="矩形 54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61" name="矩形 5"/>
          <p:cNvSpPr>
            <a:spLocks noChangeArrowheads="1"/>
          </p:cNvSpPr>
          <p:nvPr/>
        </p:nvSpPr>
        <p:spPr bwMode="auto">
          <a:xfrm>
            <a:off x="798666" y="1365193"/>
            <a:ext cx="10859934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横向并列选择卡池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横向并列选择卡池实质是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让玩家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从同产物多个抽卡模型中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选择一个卡池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进行抽取。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并列的卡池之间保底并不相通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798666" y="3113083"/>
            <a:ext cx="5923867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游戏案例：战双帕弥什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战双帕弥什的两种池子分别为：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基础保底抽卡模型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单抽率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抽保底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浮动保底抽卡模型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单抽率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80-100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抽保底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045" y="4107881"/>
            <a:ext cx="1428644" cy="14286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590" y="2651947"/>
            <a:ext cx="4551100" cy="2028803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590" y="4736398"/>
            <a:ext cx="4551100" cy="2035797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>
          <a:xfrm>
            <a:off x="5706533" y="3514609"/>
            <a:ext cx="522100" cy="30347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" name="右箭头 27"/>
          <p:cNvSpPr/>
          <p:nvPr/>
        </p:nvSpPr>
        <p:spPr>
          <a:xfrm>
            <a:off x="5725331" y="5766440"/>
            <a:ext cx="522100" cy="30347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0" name="矩形 5"/>
          <p:cNvSpPr>
            <a:spLocks noChangeArrowheads="1"/>
          </p:cNvSpPr>
          <p:nvPr/>
        </p:nvSpPr>
        <p:spPr bwMode="auto">
          <a:xfrm>
            <a:off x="259030" y="6265580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战双帕弥什抽卡拆解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: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见附录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4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611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7123015" y="1924971"/>
            <a:ext cx="379372" cy="379372"/>
            <a:chOff x="3808417" y="2508606"/>
            <a:chExt cx="379372" cy="379372"/>
          </a:xfrm>
        </p:grpSpPr>
        <p:sp>
          <p:nvSpPr>
            <p:cNvPr id="37" name="椭圆 36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218852" y="5616618"/>
            <a:ext cx="379372" cy="379372"/>
            <a:chOff x="3808417" y="2508606"/>
            <a:chExt cx="379372" cy="379372"/>
          </a:xfrm>
        </p:grpSpPr>
        <p:sp>
          <p:nvSpPr>
            <p:cNvPr id="40" name="椭圆 39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502387" y="5616618"/>
            <a:ext cx="379372" cy="379372"/>
            <a:chOff x="3808417" y="2508606"/>
            <a:chExt cx="379372" cy="379372"/>
          </a:xfrm>
        </p:grpSpPr>
        <p:sp>
          <p:nvSpPr>
            <p:cNvPr id="43" name="椭圆 42"/>
            <p:cNvSpPr/>
            <p:nvPr/>
          </p:nvSpPr>
          <p:spPr>
            <a:xfrm>
              <a:off x="3849107" y="2549296"/>
              <a:ext cx="297992" cy="2979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808417" y="2508606"/>
              <a:ext cx="379372" cy="379372"/>
            </a:xfrm>
            <a:prstGeom prst="ellipse">
              <a:avLst/>
            </a:prstGeom>
            <a:solidFill>
              <a:srgbClr val="FFFFFF">
                <a:alpha val="2392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纵向叠加卡池抽卡</a:t>
            </a:r>
          </a:p>
        </p:txBody>
      </p:sp>
      <p:grpSp>
        <p:nvGrpSpPr>
          <p:cNvPr id="53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54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58" name="图文框 57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04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55" name="矩形 54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6" name="矩形 55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57" name="矩形 56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61" name="矩形 5"/>
          <p:cNvSpPr>
            <a:spLocks noChangeArrowheads="1"/>
          </p:cNvSpPr>
          <p:nvPr/>
        </p:nvSpPr>
        <p:spPr bwMode="auto">
          <a:xfrm>
            <a:off x="798666" y="1365193"/>
            <a:ext cx="10859934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纵向叠加卡池抽卡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纵向叠加卡池抽卡指在常规的基础卡池上还有更为稀有的卡池。稀有卡池的抽取只能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通过普通卡池抽取的副产物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进行积攒。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纵向叠加的卡池价值差距往往极大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6" name="矩形 5"/>
          <p:cNvSpPr>
            <a:spLocks noChangeArrowheads="1"/>
          </p:cNvSpPr>
          <p:nvPr/>
        </p:nvSpPr>
        <p:spPr bwMode="auto">
          <a:xfrm>
            <a:off x="798666" y="3109199"/>
            <a:ext cx="6160934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游戏案例：第七史诗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月光召唤卡池）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第七的两种池子分别为：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基础保底抽卡模型：圣约召唤（普通）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1.25%5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星单抽率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0.15%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光暗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单抽率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光暗英雄出率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120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抽保底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古典抽卡模型：月光召唤（高级）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光暗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单抽率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光暗英雄出率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无保底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备注：玩家需要在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普通池抽取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才可以兑换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次光暗池抽取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机会。通常无法通过购买途径获取光暗池抽取机会。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940" y="3802612"/>
            <a:ext cx="1430069" cy="143006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25" y="4519822"/>
            <a:ext cx="3969808" cy="22330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725" y="2284630"/>
            <a:ext cx="3969808" cy="2233017"/>
          </a:xfrm>
          <a:prstGeom prst="rect">
            <a:avLst/>
          </a:prstGeom>
        </p:spPr>
      </p:pic>
      <p:sp>
        <p:nvSpPr>
          <p:cNvPr id="31" name="矩形 5"/>
          <p:cNvSpPr>
            <a:spLocks noChangeArrowheads="1"/>
          </p:cNvSpPr>
          <p:nvPr/>
        </p:nvSpPr>
        <p:spPr bwMode="auto">
          <a:xfrm>
            <a:off x="454289" y="6410839"/>
            <a:ext cx="358483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第七史诗抽卡拆解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: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见附录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6" action="ppaction://hlinksldjump"/>
              </a:rPr>
              <a:t>7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2622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642144" y="1241898"/>
            <a:ext cx="9678723" cy="510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叠池的特点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首先需要探究目标用户群体的抽卡习惯，根据用户的抽卡习惯与商业化倾向选择对应的卡池。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横向并列选择卡池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优点：给玩家提供更多的选择，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减少玩家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因为抽卡机制而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流失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避免卡池选择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模型的问题。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缺点：抽卡模型改动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工作量大、平衡难度高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纵向叠加卡池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纵向叠加卡池的作用有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：突出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稀缺物品的获取难度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：增加玩家对物品价值判定的成本（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模糊物品定价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叠池的选择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手机游戏涉及抽卡时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并没有采用叠池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的设定。战双的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横向并列选择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卡池设计也是在玩家以概率不符为由将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进行修改的副产物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，战双被玩家告上法院后，后续设计的叠池属于对玩家群体进行的部分妥协，也并非是唯一的解决方案。第七史诗的纵向叠池设计初衷也是为了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突出光暗属性英雄的强力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。模糊物品定价并非只能通过叠池才能实现（可以用大量的礼包活动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复杂的材料道具获取来实现）。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叠池的选择概念比较新，其带来的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机遇与风险并存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。需要未来市场进一步验证其可行性。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27"/>
          <p:cNvGrpSpPr>
            <a:grpSpLocks noChangeAspect="1"/>
          </p:cNvGrpSpPr>
          <p:nvPr/>
        </p:nvGrpSpPr>
        <p:grpSpPr bwMode="auto">
          <a:xfrm>
            <a:off x="144463" y="227013"/>
            <a:ext cx="1082675" cy="825500"/>
            <a:chOff x="226981" y="255159"/>
            <a:chExt cx="1118402" cy="852890"/>
          </a:xfrm>
        </p:grpSpPr>
        <p:grpSp>
          <p:nvGrpSpPr>
            <p:cNvPr id="6" name="组合 28"/>
            <p:cNvGrpSpPr>
              <a:grpSpLocks/>
            </p:cNvGrpSpPr>
            <p:nvPr/>
          </p:nvGrpSpPr>
          <p:grpSpPr bwMode="auto">
            <a:xfrm>
              <a:off x="226981" y="430655"/>
              <a:ext cx="849583" cy="677394"/>
              <a:chOff x="2276629" y="1792896"/>
              <a:chExt cx="2180656" cy="1738695"/>
            </a:xfrm>
          </p:grpSpPr>
          <p:sp>
            <p:nvSpPr>
              <p:cNvPr id="13" name="图文框 12"/>
              <p:cNvSpPr/>
              <p:nvPr/>
            </p:nvSpPr>
            <p:spPr>
              <a:xfrm>
                <a:off x="2735426" y="1792901"/>
                <a:ext cx="1721546" cy="1738690"/>
              </a:xfrm>
              <a:prstGeom prst="frame">
                <a:avLst>
                  <a:gd name="adj1" fmla="val 8305"/>
                </a:avLst>
              </a:prstGeom>
              <a:gradFill>
                <a:gsLst>
                  <a:gs pos="0">
                    <a:srgbClr val="4CC5F1"/>
                  </a:gs>
                  <a:gs pos="61000">
                    <a:srgbClr val="8B66AA"/>
                  </a:gs>
                </a:gsLst>
                <a:lin ang="2700000" scaled="1"/>
              </a:gradFill>
              <a:ln>
                <a:noFill/>
              </a:ln>
              <a:effectLst>
                <a:outerShdw blurRad="292100" dist="1524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3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文本框 9"/>
              <p:cNvSpPr txBox="1">
                <a:spLocks noChangeAspect="1"/>
              </p:cNvSpPr>
              <p:nvPr/>
            </p:nvSpPr>
            <p:spPr>
              <a:xfrm>
                <a:off x="2276629" y="1792901"/>
                <a:ext cx="2058276" cy="17134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36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mpact" panose="020B0806030902050204" pitchFamily="34" charset="0"/>
                  </a:rPr>
                  <a:t> 04  </a:t>
                </a:r>
                <a:endParaRPr lang="zh-CN" altLang="en-US" sz="360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endParaRPr>
              </a:p>
            </p:txBody>
          </p:sp>
        </p:grpSp>
        <p:sp>
          <p:nvSpPr>
            <p:cNvPr id="7" name="矩形 6"/>
            <p:cNvSpPr/>
            <p:nvPr/>
          </p:nvSpPr>
          <p:spPr>
            <a:xfrm>
              <a:off x="1064962" y="278121"/>
              <a:ext cx="154149" cy="152536"/>
            </a:xfrm>
            <a:prstGeom prst="rect">
              <a:avLst/>
            </a:prstGeom>
            <a:solidFill>
              <a:srgbClr val="0698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8" name="矩形 7"/>
            <p:cNvSpPr/>
            <p:nvPr/>
          </p:nvSpPr>
          <p:spPr>
            <a:xfrm>
              <a:off x="1268308" y="255159"/>
              <a:ext cx="77075" cy="77088"/>
            </a:xfrm>
            <a:prstGeom prst="rect">
              <a:avLst/>
            </a:prstGeom>
            <a:solidFill>
              <a:srgbClr val="8B66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1140397" y="278121"/>
              <a:ext cx="77075" cy="7544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600"/>
            </a:p>
          </p:txBody>
        </p:sp>
      </p:grpSp>
      <p:sp>
        <p:nvSpPr>
          <p:cNvPr id="15" name="文本框 11"/>
          <p:cNvSpPr txBox="1">
            <a:spLocks noChangeArrowheads="1"/>
          </p:cNvSpPr>
          <p:nvPr/>
        </p:nvSpPr>
        <p:spPr bwMode="auto">
          <a:xfrm>
            <a:off x="1152525" y="463550"/>
            <a:ext cx="617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叠池的特点与选择</a:t>
            </a:r>
          </a:p>
        </p:txBody>
      </p:sp>
    </p:spTree>
    <p:extLst>
      <p:ext uri="{BB962C8B-B14F-4D97-AF65-F5344CB8AC3E}">
        <p14:creationId xmlns:p14="http://schemas.microsoft.com/office/powerpoint/2010/main" val="4273393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20763" y="2781300"/>
            <a:ext cx="10152062" cy="1295400"/>
          </a:xfrm>
        </p:spPr>
        <p:txBody>
          <a:bodyPr/>
          <a:lstStyle/>
          <a:p>
            <a:r>
              <a:rPr lang="zh-CN" altLang="en-US" dirty="0"/>
              <a:t>附录</a:t>
            </a:r>
          </a:p>
        </p:txBody>
      </p:sp>
    </p:spTree>
    <p:extLst>
      <p:ext uri="{BB962C8B-B14F-4D97-AF65-F5344CB8AC3E}">
        <p14:creationId xmlns:p14="http://schemas.microsoft.com/office/powerpoint/2010/main" val="1091742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11"/>
          <p:cNvSpPr txBox="1">
            <a:spLocks noChangeArrowheads="1"/>
          </p:cNvSpPr>
          <p:nvPr/>
        </p:nvSpPr>
        <p:spPr bwMode="auto">
          <a:xfrm>
            <a:off x="642144" y="382121"/>
            <a:ext cx="4460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：名词诠释</a:t>
            </a:r>
          </a:p>
        </p:txBody>
      </p:sp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642144" y="1310911"/>
            <a:ext cx="9282906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置信度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置信度：“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事件置信度＞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95%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事件发生”这句话的可信度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备注：概率学角度来说，置信度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可以认为该事件为必然发生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642144" y="3070698"/>
            <a:ext cx="9282906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保底机制</a:t>
            </a:r>
            <a:b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对运营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保底机制是响应国家政策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对玩家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无论奖池如何设置，其保底机制的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根本目的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照顾到抽奖一直不出的“非洲人”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这里的“非洲人”指在同一奖池内相对于其他“欧”的人，属于小概率事件。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优化玩家（尤其是非洲人）的游戏体验，这部分玩家群体流失率降低。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本质将抽卡的商业化模式向买卖交易商业化靠拢。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进而导致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有保底机制抽奖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的兴奋点相对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没有保底抽奖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endParaRPr lang="en-US" altLang="zh-CN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5471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849167"/>
            <a:ext cx="9722532" cy="5291874"/>
          </a:xfrm>
          <a:prstGeom prst="rect">
            <a:avLst/>
          </a:prstGeom>
        </p:spPr>
      </p:pic>
      <p:sp>
        <p:nvSpPr>
          <p:cNvPr id="4" name="文本框 11"/>
          <p:cNvSpPr txBox="1">
            <a:spLocks noChangeArrowheads="1"/>
          </p:cNvSpPr>
          <p:nvPr/>
        </p:nvSpPr>
        <p:spPr bwMode="auto">
          <a:xfrm>
            <a:off x="285750" y="244475"/>
            <a:ext cx="9239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：抽卡概率表（在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概率下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次没抽出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2048820" y="6316948"/>
            <a:ext cx="73999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备注：该图只截取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0-50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抽的分布，置信度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&gt;95%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为研究对象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34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1"/>
          <p:cNvSpPr txBox="1">
            <a:spLocks noChangeArrowheads="1"/>
          </p:cNvSpPr>
          <p:nvPr/>
        </p:nvSpPr>
        <p:spPr bwMode="auto">
          <a:xfrm>
            <a:off x="285750" y="244475"/>
            <a:ext cx="9239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：抽卡概率表（在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概率下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次抽出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*x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2048820" y="6316948"/>
            <a:ext cx="73999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备注：该图只截取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0-50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抽的分布，置信度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 95%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为研究对象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4" y="767694"/>
            <a:ext cx="10034463" cy="546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2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1"/>
          <p:cNvSpPr txBox="1">
            <a:spLocks noChangeArrowheads="1"/>
          </p:cNvSpPr>
          <p:nvPr/>
        </p:nvSpPr>
        <p:spPr bwMode="auto">
          <a:xfrm>
            <a:off x="285750" y="244475"/>
            <a:ext cx="9239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：抽卡拆解表（战双帕弥什）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285750" y="4530391"/>
            <a:ext cx="1136238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、角色池中带“命运降临”前缀的为浮动保底卡池（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80-100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）概率保底，单抽率为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单抽概率为基础保底卡池，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抽保底。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、战双抽卡方式为多卡池并列，玩家可以自己决定选择浮动保底卡池还是固定保底卡池。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、通过公示规则计算，玩家抽取浮动保底卡池出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级构造体的期望抽取次数为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49.14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抽（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概率更高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），抽取基础保底卡池出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级构造体的期望抽取次数为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51.72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抽（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概率更低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）。与官方给出综合出率（含保底）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=2%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（即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级构造体的期望抽取次数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）略有差异。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48" y="1767354"/>
            <a:ext cx="11952652" cy="247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87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1"/>
          <p:cNvSpPr txBox="1">
            <a:spLocks noChangeArrowheads="1"/>
          </p:cNvSpPr>
          <p:nvPr/>
        </p:nvSpPr>
        <p:spPr bwMode="auto">
          <a:xfrm>
            <a:off x="285750" y="244475"/>
            <a:ext cx="9239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：抽卡拆解表（公主连结）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287753" y="5368681"/>
            <a:ext cx="1136238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、旧卡池的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星率为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，新卡池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星率为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。修改前后一星率降低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0.5%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、在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fes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池（限定）会使三星总出率翻倍（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5%/6%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）因此表中也会统计双倍概率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00936"/>
            <a:ext cx="11667160" cy="373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61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1"/>
          <p:cNvSpPr txBox="1">
            <a:spLocks noChangeArrowheads="1"/>
          </p:cNvSpPr>
          <p:nvPr/>
        </p:nvSpPr>
        <p:spPr bwMode="auto">
          <a:xfrm>
            <a:off x="285750" y="244475"/>
            <a:ext cx="9239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：抽卡拆解表（明日方舟）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439583" y="6097759"/>
            <a:ext cx="1136238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备注：方舟有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种保底机制（累加抽卡保底、金票兑换、限定池兑换），其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种保底机制互相独立，且可以同时出现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。计算具体卖卡价格需要根据实际情况调用表格数据进行具体分析。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75" y="788887"/>
            <a:ext cx="11289888" cy="52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24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1"/>
          <p:cNvSpPr txBox="1">
            <a:spLocks noChangeArrowheads="1"/>
          </p:cNvSpPr>
          <p:nvPr/>
        </p:nvSpPr>
        <p:spPr bwMode="auto">
          <a:xfrm>
            <a:off x="285750" y="244475"/>
            <a:ext cx="9239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：抽卡拆解表（第七史诗）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5"/>
          <p:cNvSpPr>
            <a:spLocks noChangeArrowheads="1"/>
          </p:cNvSpPr>
          <p:nvPr/>
        </p:nvSpPr>
        <p:spPr bwMode="auto">
          <a:xfrm>
            <a:off x="348649" y="5312538"/>
            <a:ext cx="1136238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、第七史诗卡池种类很多（友情、圣约、神秘、月光、限定、属性、高级属性）这里只展示圣约召唤（普通池）和月光召唤（稀有池）用于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纵向叠池抽卡模型对比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钻石（无折扣活动），圣约召唤、月光召唤两者单抽价值拆解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相差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83" y="881878"/>
            <a:ext cx="11271446" cy="211377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579" y="3385935"/>
            <a:ext cx="4717384" cy="15363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83" y="3385935"/>
            <a:ext cx="6443978" cy="1635638"/>
          </a:xfrm>
          <a:prstGeom prst="rect">
            <a:avLst/>
          </a:prstGeom>
        </p:spPr>
      </p:pic>
      <p:sp>
        <p:nvSpPr>
          <p:cNvPr id="10" name="矩形 5"/>
          <p:cNvSpPr>
            <a:spLocks noChangeArrowheads="1"/>
          </p:cNvSpPr>
          <p:nvPr/>
        </p:nvSpPr>
        <p:spPr bwMode="auto">
          <a:xfrm>
            <a:off x="4905375" y="2990740"/>
            <a:ext cx="23284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第七史诗抽卡总表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1764879" y="5011743"/>
            <a:ext cx="37933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第七史诗圣约召唤拆解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5"/>
          <p:cNvSpPr>
            <a:spLocks noChangeArrowheads="1"/>
          </p:cNvSpPr>
          <p:nvPr/>
        </p:nvSpPr>
        <p:spPr bwMode="auto">
          <a:xfrm>
            <a:off x="7546578" y="4892714"/>
            <a:ext cx="379338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第七史诗月光召唤拆解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7659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-14288"/>
            <a:ext cx="2238375" cy="707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80963" y="2257425"/>
            <a:ext cx="1468437" cy="2555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zh-CN" altLang="en-US" sz="160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/>
          <a:stretch/>
        </p:blipFill>
        <p:spPr>
          <a:xfrm>
            <a:off x="1592263" y="-19050"/>
            <a:ext cx="2225675" cy="7062788"/>
          </a:xfrm>
          <a:effectLst>
            <a:outerShdw blurRad="114300" dist="114300" dir="10800000" sx="101000" sy="101000" algn="r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/>
          <p:cNvSpPr txBox="1"/>
          <p:nvPr/>
        </p:nvSpPr>
        <p:spPr>
          <a:xfrm>
            <a:off x="1508125" y="2257425"/>
            <a:ext cx="1870075" cy="2555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endParaRPr lang="zh-CN" altLang="en-US" sz="160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t="-222"/>
          <a:stretch/>
        </p:blipFill>
        <p:spPr>
          <a:xfrm>
            <a:off x="3306763" y="-14288"/>
            <a:ext cx="2239962" cy="7064376"/>
          </a:xfrm>
          <a:prstGeom prst="rect">
            <a:avLst/>
          </a:prstGeom>
          <a:effectLst>
            <a:outerShdw blurRad="114300" dist="114300" dir="10800000" sx="101000" sy="101000" algn="r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/>
          <p:cNvSpPr txBox="1"/>
          <p:nvPr/>
        </p:nvSpPr>
        <p:spPr>
          <a:xfrm>
            <a:off x="3382963" y="2252663"/>
            <a:ext cx="1728787" cy="2554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5122863" y="-12700"/>
            <a:ext cx="2195512" cy="7067550"/>
          </a:xfrm>
          <a:prstGeom prst="rect">
            <a:avLst/>
          </a:prstGeom>
          <a:effectLst>
            <a:outerShdw blurRad="114300" dist="114300" dir="10800000" sx="101000" sy="101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5041900" y="2257425"/>
            <a:ext cx="1925638" cy="2555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160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内容占位符 5"/>
          <p:cNvPicPr>
            <a:picLocks noChangeAspect="1"/>
          </p:cNvPicPr>
          <p:nvPr/>
        </p:nvPicPr>
        <p:blipFill rotWithShape="1">
          <a:blip r:embed="rId6"/>
          <a:srcRect/>
          <a:stretch/>
        </p:blipFill>
        <p:spPr>
          <a:xfrm>
            <a:off x="6835775" y="-7938"/>
            <a:ext cx="2239963" cy="7064376"/>
          </a:xfrm>
          <a:prstGeom prst="rect">
            <a:avLst/>
          </a:prstGeom>
          <a:effectLst>
            <a:outerShdw blurRad="114300" dist="114300" dir="10800000" sx="101000" sy="101000" algn="r" rotWithShape="0">
              <a:prstClr val="black">
                <a:alpha val="40000"/>
              </a:prstClr>
            </a:outerShdw>
          </a:effectLst>
        </p:spPr>
      </p:pic>
      <p:sp>
        <p:nvSpPr>
          <p:cNvPr id="14" name="文本框 13"/>
          <p:cNvSpPr txBox="1"/>
          <p:nvPr/>
        </p:nvSpPr>
        <p:spPr>
          <a:xfrm>
            <a:off x="6700838" y="2260600"/>
            <a:ext cx="1606550" cy="2554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endParaRPr lang="zh-CN" altLang="en-US" sz="160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7"/>
          <a:srcRect b="-447"/>
          <a:stretch/>
        </p:blipFill>
        <p:spPr>
          <a:xfrm>
            <a:off x="8429625" y="3175"/>
            <a:ext cx="2241550" cy="7064375"/>
          </a:xfrm>
          <a:prstGeom prst="rect">
            <a:avLst/>
          </a:prstGeom>
          <a:effectLst>
            <a:outerShdw blurRad="114300" dist="114300" dir="10800000" sx="101000" sy="101000" algn="r" rotWithShape="0">
              <a:prstClr val="black">
                <a:alpha val="40000"/>
              </a:prstClr>
            </a:outerShdw>
          </a:effectLst>
        </p:spPr>
      </p:pic>
      <p:sp>
        <p:nvSpPr>
          <p:cNvPr id="15" name="文本框 14"/>
          <p:cNvSpPr txBox="1"/>
          <p:nvPr/>
        </p:nvSpPr>
        <p:spPr>
          <a:xfrm>
            <a:off x="8470900" y="2252663"/>
            <a:ext cx="1419225" cy="25542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60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zh-CN" altLang="en-US" sz="16000" b="1" dirty="0">
              <a:solidFill>
                <a:schemeClr val="bg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8"/>
          <a:srcRect t="-222"/>
          <a:stretch/>
        </p:blipFill>
        <p:spPr>
          <a:xfrm>
            <a:off x="9920288" y="-12700"/>
            <a:ext cx="2286000" cy="7065963"/>
          </a:xfrm>
          <a:prstGeom prst="rect">
            <a:avLst/>
          </a:prstGeom>
          <a:effectLst>
            <a:outerShdw blurRad="114300" dist="114300" dir="10800000" sx="101000" sy="101000" algn="r" rotWithShape="0">
              <a:prstClr val="black">
                <a:alpha val="40000"/>
              </a:prstClr>
            </a:outerShdw>
          </a:effectLst>
        </p:spPr>
      </p:pic>
      <p:sp>
        <p:nvSpPr>
          <p:cNvPr id="16" name="文本框 15"/>
          <p:cNvSpPr txBox="1"/>
          <p:nvPr/>
        </p:nvSpPr>
        <p:spPr>
          <a:xfrm>
            <a:off x="9723438" y="2266950"/>
            <a:ext cx="2236787" cy="2554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0" b="1" dirty="0">
                <a:solidFill>
                  <a:schemeClr val="bg1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01232791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3434</Words>
  <Application>Microsoft Office PowerPoint</Application>
  <PresentationFormat>宽屏</PresentationFormat>
  <Paragraphs>195</Paragraphs>
  <Slides>31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微软雅黑</vt:lpstr>
      <vt:lpstr>Arial</vt:lpstr>
      <vt:lpstr>Arial Black</vt:lpstr>
      <vt:lpstr>Calibri</vt:lpstr>
      <vt:lpstr>Calibri Light</vt:lpstr>
      <vt:lpstr>Impact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CMS</dc:creator>
  <cp:lastModifiedBy>语晖 郑</cp:lastModifiedBy>
  <cp:revision>126</cp:revision>
  <dcterms:created xsi:type="dcterms:W3CDTF">2021-10-11T07:41:13Z</dcterms:created>
  <dcterms:modified xsi:type="dcterms:W3CDTF">2025-09-05T12:56:34Z</dcterms:modified>
</cp:coreProperties>
</file>